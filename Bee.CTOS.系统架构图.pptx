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3" r:id="rId2"/>
  </p:sldMasterIdLst>
  <p:notesMasterIdLst>
    <p:notesMasterId r:id="rId6"/>
  </p:notesMasterIdLst>
  <p:handoutMasterIdLst>
    <p:handoutMasterId r:id="rId7"/>
  </p:handoutMasterIdLst>
  <p:sldIdLst>
    <p:sldId id="1001" r:id="rId3"/>
    <p:sldId id="1002" r:id="rId4"/>
    <p:sldId id="1005" r:id="rId5"/>
  </p:sldIdLst>
  <p:sldSz cx="9144000" cy="5143500" type="screen16x9"/>
  <p:notesSz cx="9939338" cy="6807200"/>
  <p:defaultTextStyle>
    <a:defPPr>
      <a:defRPr lang="zh-CN"/>
    </a:defPPr>
    <a:lvl1pPr algn="l" defTabSz="685800" rtl="0" fontAlgn="base">
      <a:spcBef>
        <a:spcPct val="0"/>
      </a:spcBef>
      <a:spcAft>
        <a:spcPct val="0"/>
      </a:spcAft>
      <a:defRPr sz="13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342900" indent="114300" algn="l" defTabSz="685800" rtl="0" fontAlgn="base">
      <a:spcBef>
        <a:spcPct val="0"/>
      </a:spcBef>
      <a:spcAft>
        <a:spcPct val="0"/>
      </a:spcAft>
      <a:defRPr sz="13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685800" indent="228600" algn="l" defTabSz="685800" rtl="0" fontAlgn="base">
      <a:spcBef>
        <a:spcPct val="0"/>
      </a:spcBef>
      <a:spcAft>
        <a:spcPct val="0"/>
      </a:spcAft>
      <a:defRPr sz="13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028700" indent="342900" algn="l" defTabSz="685800" rtl="0" fontAlgn="base">
      <a:spcBef>
        <a:spcPct val="0"/>
      </a:spcBef>
      <a:spcAft>
        <a:spcPct val="0"/>
      </a:spcAft>
      <a:defRPr sz="13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371600" indent="457200" algn="l" defTabSz="685800" rtl="0" fontAlgn="base">
      <a:spcBef>
        <a:spcPct val="0"/>
      </a:spcBef>
      <a:spcAft>
        <a:spcPct val="0"/>
      </a:spcAft>
      <a:defRPr sz="13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3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sz="13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sz="13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sz="13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48">
          <p15:clr>
            <a:srgbClr val="A4A3A4"/>
          </p15:clr>
        </p15:guide>
        <p15:guide id="2" pos="2905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857EB"/>
    <a:srgbClr val="4B7085"/>
    <a:srgbClr val="3F5F71"/>
    <a:srgbClr val="0000FF"/>
    <a:srgbClr val="DAAFAE"/>
    <a:srgbClr val="F6FDE7"/>
    <a:srgbClr val="E7FABE"/>
    <a:srgbClr val="675D75"/>
    <a:srgbClr val="C78583"/>
    <a:srgbClr val="5E840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主题样式 1 - 强调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125E5076-3810-47DD-B79F-674D7AD40C01}" styleName="深色样式 1 - 强调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CF1AB2-1976-4502-BF36-3FF5EA218861}" styleName="中度样式 4 - 强调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中度样式 4 - 强调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84E427A-3D55-4303-BF80-6455036E1DE7}" styleName="主题样式 1 - 强调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75DCB02-9BB8-47FD-8907-85C794F793BA}" styleName="主题样式 1 - 强调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270" autoAdjust="0"/>
    <p:restoredTop sz="95249" autoAdjust="0"/>
  </p:normalViewPr>
  <p:slideViewPr>
    <p:cSldViewPr snapToGrid="0">
      <p:cViewPr varScale="1">
        <p:scale>
          <a:sx n="110" d="100"/>
          <a:sy n="110" d="100"/>
        </p:scale>
        <p:origin x="1090" y="72"/>
      </p:cViewPr>
      <p:guideLst>
        <p:guide orient="horz" pos="1548"/>
        <p:guide pos="290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4" d="100"/>
        <a:sy n="104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handoutMaster" Target="handoutMasters/handoutMaster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3.xml"/><Relationship Id="rId10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4306737" cy="34030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5630284" y="0"/>
            <a:ext cx="4306737" cy="34030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D89A4D-DCA1-4F8E-95E9-E487FD906CDF}" type="datetimeFigureOut">
              <a:rPr lang="zh-CN" altLang="en-US" smtClean="0"/>
              <a:pPr/>
              <a:t>2025-01-15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1" y="6465808"/>
            <a:ext cx="4306737" cy="34030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5630284" y="6465808"/>
            <a:ext cx="4306737" cy="34030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4CE08D-3713-431F-BC45-BE04F482107A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5453438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4306737" cy="3413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5630284" y="0"/>
            <a:ext cx="4306737" cy="3413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B868CF19-4E76-4EFE-8B65-D2368E215EBF}" type="datetimeFigureOut">
              <a:rPr lang="zh-CN" altLang="en-US"/>
              <a:pPr>
                <a:defRPr/>
              </a:pPr>
              <a:t>2025-01-15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927350" y="850900"/>
            <a:ext cx="4084638" cy="22971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zh-CN" altLang="en-US" noProof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994399" y="3275850"/>
            <a:ext cx="7950543" cy="268004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noProof="0"/>
              <a:t>单击此处编辑母版文本样式</a:t>
            </a:r>
          </a:p>
          <a:p>
            <a:pPr lvl="1"/>
            <a:r>
              <a:rPr lang="zh-CN" altLang="en-US" noProof="0"/>
              <a:t>第二级</a:t>
            </a:r>
          </a:p>
          <a:p>
            <a:pPr lvl="2"/>
            <a:r>
              <a:rPr lang="zh-CN" altLang="en-US" noProof="0"/>
              <a:t>第三级</a:t>
            </a:r>
          </a:p>
          <a:p>
            <a:pPr lvl="3"/>
            <a:r>
              <a:rPr lang="zh-CN" altLang="en-US" noProof="0"/>
              <a:t>第四级</a:t>
            </a:r>
          </a:p>
          <a:p>
            <a:pPr lvl="4"/>
            <a:r>
              <a:rPr lang="zh-CN" altLang="en-US" noProof="0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1" y="6465807"/>
            <a:ext cx="4306737" cy="34139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5630284" y="6465807"/>
            <a:ext cx="4306737" cy="34139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6759990B-C9F0-4D77-852C-B189335390ED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34633845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685800" rtl="0" eaLnBrk="0" fontAlgn="base" hangingPunct="0">
      <a:spcBef>
        <a:spcPct val="30000"/>
      </a:spcBef>
      <a:spcAft>
        <a:spcPct val="0"/>
      </a:spcAft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0" fontAlgn="base" hangingPunct="0">
      <a:spcBef>
        <a:spcPct val="30000"/>
      </a:spcBef>
      <a:spcAft>
        <a:spcPct val="0"/>
      </a:spcAft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0" fontAlgn="base" hangingPunct="0">
      <a:spcBef>
        <a:spcPct val="30000"/>
      </a:spcBef>
      <a:spcAft>
        <a:spcPct val="0"/>
      </a:spcAft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0" fontAlgn="base" hangingPunct="0">
      <a:spcBef>
        <a:spcPct val="30000"/>
      </a:spcBef>
      <a:spcAft>
        <a:spcPct val="0"/>
      </a:spcAft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0" fontAlgn="base" hangingPunct="0">
      <a:spcBef>
        <a:spcPct val="30000"/>
      </a:spcBef>
      <a:spcAft>
        <a:spcPct val="0"/>
      </a:spcAft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>
    <p:wipe/>
  </p:transition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252417"/>
            <a:ext cx="615950" cy="282575"/>
          </a:xfrm>
          <a:prstGeom prst="rect">
            <a:avLst/>
          </a:prstGeom>
          <a:solidFill>
            <a:srgbClr val="1D8D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015"/>
          </a:p>
        </p:txBody>
      </p:sp>
      <p:sp>
        <p:nvSpPr>
          <p:cNvPr id="3" name="矩形 2"/>
          <p:cNvSpPr/>
          <p:nvPr/>
        </p:nvSpPr>
        <p:spPr>
          <a:xfrm>
            <a:off x="615962" y="252417"/>
            <a:ext cx="1044575" cy="282575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015" dirty="0"/>
          </a:p>
        </p:txBody>
      </p:sp>
      <p:sp>
        <p:nvSpPr>
          <p:cNvPr id="4" name="矩形 3"/>
          <p:cNvSpPr/>
          <p:nvPr userDrawn="1"/>
        </p:nvSpPr>
        <p:spPr>
          <a:xfrm>
            <a:off x="0" y="252417"/>
            <a:ext cx="615950" cy="282575"/>
          </a:xfrm>
          <a:prstGeom prst="rect">
            <a:avLst/>
          </a:prstGeom>
          <a:solidFill>
            <a:srgbClr val="1D8D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015"/>
          </a:p>
        </p:txBody>
      </p:sp>
      <p:sp>
        <p:nvSpPr>
          <p:cNvPr id="5" name="矩形 4"/>
          <p:cNvSpPr/>
          <p:nvPr userDrawn="1"/>
        </p:nvSpPr>
        <p:spPr>
          <a:xfrm>
            <a:off x="615962" y="252417"/>
            <a:ext cx="1044575" cy="282575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015" dirty="0"/>
          </a:p>
        </p:txBody>
      </p:sp>
    </p:spTree>
  </p:cSld>
  <p:clrMapOvr>
    <a:masterClrMapping/>
  </p:clrMapOvr>
  <p:transition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3"/>
          <p:cNvPicPr>
            <a:picLocks noChangeAspect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6850" y="249238"/>
            <a:ext cx="757238" cy="6905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矩形 4"/>
          <p:cNvSpPr/>
          <p:nvPr/>
        </p:nvSpPr>
        <p:spPr>
          <a:xfrm>
            <a:off x="1169991" y="249240"/>
            <a:ext cx="269875" cy="593725"/>
          </a:xfrm>
          <a:prstGeom prst="rect">
            <a:avLst/>
          </a:prstGeom>
          <a:solidFill>
            <a:srgbClr val="0AA4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015"/>
          </a:p>
        </p:txBody>
      </p:sp>
      <p:cxnSp>
        <p:nvCxnSpPr>
          <p:cNvPr id="4" name="直接连接符 5"/>
          <p:cNvCxnSpPr/>
          <p:nvPr/>
        </p:nvCxnSpPr>
        <p:spPr>
          <a:xfrm>
            <a:off x="1458913" y="249240"/>
            <a:ext cx="0" cy="593725"/>
          </a:xfrm>
          <a:prstGeom prst="line">
            <a:avLst/>
          </a:prstGeom>
          <a:ln w="28575">
            <a:solidFill>
              <a:srgbClr val="FF920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6"/>
          <p:cNvSpPr/>
          <p:nvPr/>
        </p:nvSpPr>
        <p:spPr>
          <a:xfrm>
            <a:off x="1547813" y="249238"/>
            <a:ext cx="2214562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800" b="1" dirty="0">
                <a:solidFill>
                  <a:schemeClr val="bg1"/>
                </a:solidFill>
                <a:latin typeface="★锐线体" panose="02000000000000000000" pitchFamily="2" charset="-122"/>
                <a:ea typeface="★锐线体" panose="02000000000000000000" pitchFamily="2" charset="-122"/>
              </a:rPr>
              <a:t>精彩</a:t>
            </a:r>
            <a:r>
              <a:rPr lang="en-US" altLang="zh-CN" sz="1800" b="1" dirty="0">
                <a:solidFill>
                  <a:schemeClr val="bg1"/>
                </a:solidFill>
                <a:latin typeface="★锐线体" panose="02000000000000000000" pitchFamily="2" charset="-122"/>
                <a:ea typeface="★锐线体" panose="02000000000000000000" pitchFamily="2" charset="-122"/>
              </a:rPr>
              <a:t>PPT</a:t>
            </a:r>
            <a:r>
              <a:rPr lang="zh-CN" altLang="en-US" sz="1800" b="1" dirty="0">
                <a:solidFill>
                  <a:schemeClr val="bg1"/>
                </a:solidFill>
                <a:latin typeface="★锐线体" panose="02000000000000000000" pitchFamily="2" charset="-122"/>
                <a:ea typeface="★锐线体" panose="02000000000000000000" pitchFamily="2" charset="-122"/>
              </a:rPr>
              <a:t>案例集锦</a:t>
            </a:r>
          </a:p>
        </p:txBody>
      </p:sp>
      <p:sp>
        <p:nvSpPr>
          <p:cNvPr id="6" name="文本框 7"/>
          <p:cNvSpPr txBox="1"/>
          <p:nvPr/>
        </p:nvSpPr>
        <p:spPr>
          <a:xfrm>
            <a:off x="1547825" y="588968"/>
            <a:ext cx="1836737" cy="276999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dist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200" dirty="0">
                <a:solidFill>
                  <a:schemeClr val="bg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微信公众号：</a:t>
            </a:r>
            <a:r>
              <a:rPr lang="en-US" altLang="zh-CN" sz="1200" dirty="0">
                <a:solidFill>
                  <a:schemeClr val="bg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pptdream</a:t>
            </a:r>
            <a:endParaRPr lang="zh-CN" altLang="en-US" sz="1200" dirty="0">
              <a:solidFill>
                <a:schemeClr val="bg1">
                  <a:lumMod val="50000"/>
                  <a:lumOff val="50000"/>
                </a:schemeClr>
              </a:solidFill>
              <a:latin typeface="+mn-ea"/>
              <a:ea typeface="+mn-ea"/>
            </a:endParaRPr>
          </a:p>
        </p:txBody>
      </p:sp>
      <p:sp>
        <p:nvSpPr>
          <p:cNvPr id="7" name="矩形 8"/>
          <p:cNvSpPr/>
          <p:nvPr/>
        </p:nvSpPr>
        <p:spPr>
          <a:xfrm>
            <a:off x="0" y="4786313"/>
            <a:ext cx="9144000" cy="357187"/>
          </a:xfrm>
          <a:prstGeom prst="rect">
            <a:avLst/>
          </a:prstGeom>
          <a:solidFill>
            <a:schemeClr val="bg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80" tIns="34290" rIns="68580" bIns="34290" anchor="ctr"/>
          <a:lstStyle/>
          <a:p>
            <a:pPr>
              <a:defRPr/>
            </a:pPr>
            <a:r>
              <a:rPr lang="en-US" altLang="zh-CN" sz="1350" dirty="0">
                <a:latin typeface="★锐线体" panose="02000000000000000000" pitchFamily="2" charset="-122"/>
                <a:ea typeface="★锐线体" panose="02000000000000000000" pitchFamily="2" charset="-122"/>
              </a:rPr>
              <a:t>            QQ</a:t>
            </a:r>
            <a:r>
              <a:rPr lang="zh-CN" altLang="en-US" sz="1350" dirty="0">
                <a:latin typeface="★锐线体" panose="02000000000000000000" pitchFamily="2" charset="-122"/>
                <a:ea typeface="★锐线体" panose="02000000000000000000" pitchFamily="2" charset="-122"/>
              </a:rPr>
              <a:t>：</a:t>
            </a:r>
            <a:r>
              <a:rPr lang="en-US" altLang="zh-CN" sz="1350" dirty="0">
                <a:latin typeface="★锐线体" panose="02000000000000000000" pitchFamily="2" charset="-122"/>
                <a:ea typeface="★锐线体" panose="02000000000000000000" pitchFamily="2" charset="-122"/>
              </a:rPr>
              <a:t>463698326	  E-mail</a:t>
            </a:r>
            <a:r>
              <a:rPr lang="zh-CN" altLang="en-US" sz="1350" dirty="0">
                <a:latin typeface="★锐线体" panose="02000000000000000000" pitchFamily="2" charset="-122"/>
                <a:ea typeface="★锐线体" panose="02000000000000000000" pitchFamily="2" charset="-122"/>
              </a:rPr>
              <a:t>：</a:t>
            </a:r>
            <a:r>
              <a:rPr lang="en-US" altLang="zh-CN" sz="1350" dirty="0">
                <a:latin typeface="★锐线体" panose="02000000000000000000" pitchFamily="2" charset="-122"/>
                <a:ea typeface="★锐线体" panose="02000000000000000000" pitchFamily="2" charset="-122"/>
              </a:rPr>
              <a:t>solar3233@126.com	</a:t>
            </a:r>
            <a:r>
              <a:rPr lang="zh-CN" altLang="en-US" sz="1350" dirty="0">
                <a:latin typeface="★锐线体" panose="02000000000000000000" pitchFamily="2" charset="-122"/>
                <a:ea typeface="★锐线体" panose="02000000000000000000" pitchFamily="2" charset="-122"/>
              </a:rPr>
              <a:t>联系电话：</a:t>
            </a:r>
            <a:r>
              <a:rPr lang="en-US" altLang="zh-CN" sz="1350" dirty="0">
                <a:latin typeface="★锐线体" panose="02000000000000000000" pitchFamily="2" charset="-122"/>
                <a:ea typeface="★锐线体" panose="02000000000000000000" pitchFamily="2" charset="-122"/>
              </a:rPr>
              <a:t>186-0640-3233</a:t>
            </a:r>
            <a:endParaRPr lang="zh-CN" altLang="en-US" sz="1350" dirty="0">
              <a:latin typeface="★锐线体" panose="02000000000000000000" pitchFamily="2" charset="-122"/>
              <a:ea typeface="★锐线体" panose="02000000000000000000" pitchFamily="2" charset="-122"/>
            </a:endParaRPr>
          </a:p>
        </p:txBody>
      </p:sp>
    </p:spTree>
  </p:cSld>
  <p:clrMapOvr>
    <a:masterClrMapping/>
  </p:clrMapOvr>
  <p:transition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1597822"/>
            <a:ext cx="7772400" cy="1102519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71918-5BB5-48A1-B847-28BA0F6365FD}" type="datetimeFigureOut">
              <a:rPr lang="zh-CN" altLang="en-US" smtClean="0"/>
              <a:pPr/>
              <a:t>2025-01-15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B88968-35CB-469A-AD93-52E7A3681EA0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0B5C1520-CF02-418F-ABE3-A30F90AD8FFA}" type="datetimeFigureOut">
              <a:rPr lang="zh-CN" altLang="en-US" smtClean="0"/>
              <a:pPr>
                <a:defRPr/>
              </a:pPr>
              <a:t>2025-01-15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E26B3E0-2579-4B6D-BC18-6AB826FFA566}" type="slidenum">
              <a:rPr lang="zh-CN" altLang="en-US" smtClean="0"/>
              <a:pPr>
                <a:defRPr/>
              </a:pPr>
              <a:t>‹#›</a:t>
            </a:fld>
            <a:endParaRPr lang="zh-CN" altLang="en-US"/>
          </a:p>
        </p:txBody>
      </p:sp>
      <p:sp>
        <p:nvSpPr>
          <p:cNvPr id="8" name="Line 17"/>
          <p:cNvSpPr>
            <a:spLocks noChangeShapeType="1"/>
          </p:cNvSpPr>
          <p:nvPr userDrawn="1"/>
        </p:nvSpPr>
        <p:spPr bwMode="auto">
          <a:xfrm flipV="1">
            <a:off x="342900" y="670560"/>
            <a:ext cx="8534400" cy="0"/>
          </a:xfrm>
          <a:prstGeom prst="line">
            <a:avLst/>
          </a:prstGeom>
          <a:noFill/>
          <a:ln w="34925">
            <a:solidFill>
              <a:srgbClr val="FFCC00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zh-CN" altLang="en-US"/>
          </a:p>
        </p:txBody>
      </p:sp>
    </p:spTree>
  </p:cSld>
  <p:clrMapOvr>
    <a:masterClrMapping/>
  </p:clrMapOvr>
  <p:transition spd="slow">
    <p:cover dir="rd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71918-5BB5-48A1-B847-28BA0F6365FD}" type="datetimeFigureOut">
              <a:rPr lang="zh-CN" altLang="en-US" smtClean="0"/>
              <a:pPr/>
              <a:t>2025-01-15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B88968-35CB-469A-AD93-52E7A3681EA0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900115"/>
            <a:ext cx="4038600" cy="254555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900115"/>
            <a:ext cx="4038600" cy="254555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71918-5BB5-48A1-B847-28BA0F6365FD}" type="datetimeFigureOut">
              <a:rPr lang="zh-CN" altLang="en-US" smtClean="0"/>
              <a:pPr/>
              <a:t>2025-01-15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B88968-35CB-469A-AD93-52E7A3681EA0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32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32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71918-5BB5-48A1-B847-28BA0F6365FD}" type="datetimeFigureOut">
              <a:rPr lang="zh-CN" altLang="en-US" smtClean="0"/>
              <a:pPr/>
              <a:t>2025-01-15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B88968-35CB-469A-AD93-52E7A3681EA0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71918-5BB5-48A1-B847-28BA0F6365FD}" type="datetimeFigureOut">
              <a:rPr lang="zh-CN" altLang="en-US" smtClean="0"/>
              <a:pPr/>
              <a:t>2025-01-15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B88968-35CB-469A-AD93-52E7A3681EA0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71918-5BB5-48A1-B847-28BA0F6365FD}" type="datetimeFigureOut">
              <a:rPr lang="zh-CN" altLang="en-US" smtClean="0"/>
              <a:pPr/>
              <a:t>2025-01-15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B88968-35CB-469A-AD93-52E7A3681EA0}" type="slidenum">
              <a:rPr lang="zh-CN" altLang="en-US" smtClean="0"/>
              <a:pPr/>
              <a:t>‹#›</a:t>
            </a:fld>
            <a:endParaRPr lang="zh-CN" altLang="en-US"/>
          </a:p>
        </p:txBody>
      </p:sp>
      <p:pic>
        <p:nvPicPr>
          <p:cNvPr id="5" name="Picture 4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" y="-8572"/>
            <a:ext cx="9142413" cy="51392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ransition spd="slow">
    <p:cover dir="rd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7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04791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7" y="1076328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71918-5BB5-48A1-B847-28BA0F6365FD}" type="datetimeFigureOut">
              <a:rPr lang="zh-CN" altLang="en-US" smtClean="0"/>
              <a:pPr/>
              <a:t>2025-01-15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B88968-35CB-469A-AD93-52E7A3681EA0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4025506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71918-5BB5-48A1-B847-28BA0F6365FD}" type="datetimeFigureOut">
              <a:rPr lang="zh-CN" altLang="en-US" smtClean="0"/>
              <a:pPr/>
              <a:t>2025-01-15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B88968-35CB-469A-AD93-52E7A3681EA0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71918-5BB5-48A1-B847-28BA0F6365FD}" type="datetimeFigureOut">
              <a:rPr lang="zh-CN" altLang="en-US" smtClean="0"/>
              <a:pPr/>
              <a:t>2025-01-15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B88968-35CB-469A-AD93-52E7A3681EA0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154783"/>
            <a:ext cx="2057400" cy="329088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154783"/>
            <a:ext cx="6019800" cy="329088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71918-5BB5-48A1-B847-28BA0F6365FD}" type="datetimeFigureOut">
              <a:rPr lang="zh-CN" altLang="en-US" smtClean="0"/>
              <a:pPr/>
              <a:t>2025-01-15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B88968-35CB-469A-AD93-52E7A3681EA0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4" descr="集团LOGO.png"/>
          <p:cNvPicPr>
            <a:picLocks noChangeAspect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975" y="102870"/>
            <a:ext cx="3016250" cy="8229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ransition spd="slow">
    <p:cover dir="rd"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3" name="矩形 2"/>
          <p:cNvSpPr/>
          <p:nvPr userDrawn="1"/>
        </p:nvSpPr>
        <p:spPr>
          <a:xfrm>
            <a:off x="381010" y="883752"/>
            <a:ext cx="8686801" cy="4362620"/>
          </a:xfrm>
          <a:prstGeom prst="rect">
            <a:avLst/>
          </a:prstGeom>
          <a:blipFill dpi="0" rotWithShape="1">
            <a:blip r:embed="rId2" cstate="print">
              <a:alphaModFix amt="50000"/>
            </a:blip>
            <a:srcRect/>
            <a:stretch>
              <a:fillRect/>
            </a:stretch>
          </a:blipFill>
          <a:ln>
            <a:noFill/>
          </a:ln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pic>
        <p:nvPicPr>
          <p:cNvPr id="4" name="图片 6" descr="集团LOGO.png"/>
          <p:cNvPicPr>
            <a:picLocks noChangeAspect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3975" y="102870"/>
            <a:ext cx="3016250" cy="8229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ransition spd="slow">
    <p:cover dir="rd"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3" name="矩形 2"/>
          <p:cNvSpPr/>
          <p:nvPr userDrawn="1"/>
        </p:nvSpPr>
        <p:spPr>
          <a:xfrm>
            <a:off x="381010" y="883752"/>
            <a:ext cx="8686801" cy="4362620"/>
          </a:xfrm>
          <a:prstGeom prst="rect">
            <a:avLst/>
          </a:prstGeom>
          <a:blipFill dpi="0" rotWithShape="1">
            <a:blip r:embed="rId2" cstate="print">
              <a:alphaModFix amt="50000"/>
            </a:blip>
            <a:srcRect/>
            <a:stretch>
              <a:fillRect/>
            </a:stretch>
          </a:blipFill>
          <a:ln>
            <a:noFill/>
          </a:ln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</p:spTree>
  </p:cSld>
  <p:clrMapOvr>
    <a:masterClrMapping/>
  </p:clrMapOvr>
  <p:transition spd="slow">
    <p:cover dir="rd"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C:\Users\Administrator\Desktop\微立体创业计划\01副本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88" y="0"/>
            <a:ext cx="9142412" cy="5143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ransition spd="slow">
    <p:cover dir="rd"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7"/>
          <p:cNvSpPr>
            <a:spLocks noChangeArrowheads="1"/>
          </p:cNvSpPr>
          <p:nvPr userDrawn="1"/>
        </p:nvSpPr>
        <p:spPr bwMode="auto">
          <a:xfrm>
            <a:off x="10" y="4629150"/>
            <a:ext cx="495419" cy="342900"/>
          </a:xfrm>
          <a:prstGeom prst="homePlate">
            <a:avLst>
              <a:gd name="adj" fmla="val 35606"/>
            </a:avLst>
          </a:prstGeom>
          <a:solidFill>
            <a:schemeClr val="bg1">
              <a:lumMod val="95000"/>
            </a:schemeClr>
          </a:solidFill>
          <a:ln w="9525">
            <a:noFill/>
            <a:miter lim="800000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rot="10800000" vert="eaVert" wrap="none" anchor="ctr"/>
          <a:lstStyle/>
          <a:p>
            <a:pPr algn="ctr">
              <a:defRPr/>
            </a:pPr>
            <a:endParaRPr lang="zh-CN" altLang="zh-CN" b="0" dirty="0">
              <a:cs typeface="宋体" panose="02010600030101010101" pitchFamily="2" charset="-122"/>
            </a:endParaRPr>
          </a:p>
        </p:txBody>
      </p:sp>
      <p:sp>
        <p:nvSpPr>
          <p:cNvPr id="3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-28575" y="4637723"/>
            <a:ext cx="523875" cy="274320"/>
          </a:xfrm>
          <a:prstGeom prst="rect">
            <a:avLst/>
          </a:prstGeom>
        </p:spPr>
        <p:txBody>
          <a:bodyPr/>
          <a:lstStyle>
            <a:lvl1pPr algn="ctr"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Book Antiqua" panose="02040602050305030304" pitchFamily="18" charset="0"/>
                <a:ea typeface="迷你简汉真广标" pitchFamily="49" charset="-122"/>
              </a:defRPr>
            </a:lvl1pPr>
          </a:lstStyle>
          <a:p>
            <a:pPr>
              <a:defRPr/>
            </a:pPr>
            <a:fld id="{E5308A67-1260-45A0-9959-2E9925C3189F}" type="slidenum">
              <a:rPr lang="en-US" altLang="zh-CN"/>
              <a:pPr>
                <a:defRPr/>
              </a:pPr>
              <a:t>‹#›</a:t>
            </a:fld>
            <a:endParaRPr lang="en-US" altLang="zh-CN" dirty="0"/>
          </a:p>
        </p:txBody>
      </p:sp>
    </p:spTree>
  </p:cSld>
  <p:clrMapOvr>
    <a:masterClrMapping/>
  </p:clrMapOvr>
  <p:transition spd="slow">
    <p:cover dir="rd"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7"/>
          <p:cNvSpPr>
            <a:spLocks noChangeArrowheads="1"/>
          </p:cNvSpPr>
          <p:nvPr userDrawn="1"/>
        </p:nvSpPr>
        <p:spPr bwMode="auto">
          <a:xfrm flipH="1">
            <a:off x="8648712" y="4629150"/>
            <a:ext cx="495419" cy="342900"/>
          </a:xfrm>
          <a:prstGeom prst="homePlate">
            <a:avLst>
              <a:gd name="adj" fmla="val 35606"/>
            </a:avLst>
          </a:prstGeom>
          <a:solidFill>
            <a:schemeClr val="bg1">
              <a:lumMod val="95000"/>
            </a:schemeClr>
          </a:solidFill>
          <a:ln w="9525">
            <a:noFill/>
            <a:miter lim="800000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rot="10800000" vert="eaVert" wrap="none" anchor="ctr"/>
          <a:lstStyle/>
          <a:p>
            <a:pPr algn="ctr">
              <a:defRPr/>
            </a:pPr>
            <a:endParaRPr lang="zh-CN" altLang="zh-CN" b="0" dirty="0">
              <a:cs typeface="宋体" panose="02010600030101010101" pitchFamily="2" charset="-122"/>
            </a:endParaRPr>
          </a:p>
        </p:txBody>
      </p:sp>
      <p:sp>
        <p:nvSpPr>
          <p:cNvPr id="3" name="灯片编号占位符 5"/>
          <p:cNvSpPr>
            <a:spLocks noGrp="1"/>
          </p:cNvSpPr>
          <p:nvPr>
            <p:ph type="sldNum" sz="quarter" idx="10"/>
          </p:nvPr>
        </p:nvSpPr>
        <p:spPr>
          <a:xfrm flipH="1">
            <a:off x="8658236" y="4646295"/>
            <a:ext cx="523875" cy="274320"/>
          </a:xfrm>
          <a:prstGeom prst="rect">
            <a:avLst/>
          </a:prstGeom>
        </p:spPr>
        <p:txBody>
          <a:bodyPr/>
          <a:lstStyle>
            <a:lvl1pPr algn="ctr"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Book Antiqua" panose="02040602050305030304" pitchFamily="18" charset="0"/>
                <a:ea typeface="迷你简汉真广标" pitchFamily="49" charset="-122"/>
              </a:defRPr>
            </a:lvl1pPr>
          </a:lstStyle>
          <a:p>
            <a:pPr>
              <a:defRPr/>
            </a:pPr>
            <a:fld id="{137B1F6E-ABCE-4647-B7D7-FE5FDF66E2C7}" type="slidenum">
              <a:rPr lang="en-US" altLang="zh-CN"/>
              <a:pPr>
                <a:defRPr/>
              </a:pPr>
              <a:t>‹#›</a:t>
            </a:fld>
            <a:endParaRPr lang="en-US" altLang="zh-CN" dirty="0"/>
          </a:p>
        </p:txBody>
      </p:sp>
    </p:spTree>
  </p:cSld>
  <p:clrMapOvr>
    <a:masterClrMapping/>
  </p:clrMapOvr>
  <p:transition spd="slow">
    <p:cover dir="rd"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3" name="矩形 2"/>
          <p:cNvSpPr/>
          <p:nvPr userDrawn="1"/>
        </p:nvSpPr>
        <p:spPr>
          <a:xfrm>
            <a:off x="381010" y="746590"/>
            <a:ext cx="8686801" cy="4362620"/>
          </a:xfrm>
          <a:prstGeom prst="rect">
            <a:avLst/>
          </a:prstGeom>
          <a:blipFill dpi="0" rotWithShape="1">
            <a:blip r:embed="rId2" cstate="print">
              <a:alphaModFix amt="34000"/>
            </a:blip>
            <a:srcRect/>
            <a:stretch>
              <a:fillRect/>
            </a:stretch>
          </a:blipFill>
          <a:ln>
            <a:noFill/>
          </a:ln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</p:spTree>
  </p:cSld>
  <p:clrMapOvr>
    <a:masterClrMapping/>
  </p:clrMapOvr>
  <p:transition spd="slow">
    <p:cover dir="rd"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slow" advClick="0" advTm="1000">
    <p:pull/>
  </p:transition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21.xml"/><Relationship Id="rId3" Type="http://schemas.openxmlformats.org/officeDocument/2006/relationships/slideLayout" Target="../slideLayouts/slideLayout6.xml"/><Relationship Id="rId7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20.xml"/><Relationship Id="rId2" Type="http://schemas.openxmlformats.org/officeDocument/2006/relationships/slideLayout" Target="../slideLayouts/slideLayout5.xml"/><Relationship Id="rId16" Type="http://schemas.openxmlformats.org/officeDocument/2006/relationships/slideLayout" Target="../slideLayouts/slideLayout19.xml"/><Relationship Id="rId20" Type="http://schemas.openxmlformats.org/officeDocument/2006/relationships/theme" Target="../theme/theme2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4.xml"/><Relationship Id="rId5" Type="http://schemas.openxmlformats.org/officeDocument/2006/relationships/slideLayout" Target="../slideLayouts/slideLayout8.xml"/><Relationship Id="rId15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13.xml"/><Relationship Id="rId19" Type="http://schemas.openxmlformats.org/officeDocument/2006/relationships/slideLayout" Target="../slideLayouts/slideLayout22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flip="none" rotWithShape="1">
            <a:gsLst>
              <a:gs pos="0">
                <a:srgbClr val="F8F7E2"/>
              </a:gs>
              <a:gs pos="100000">
                <a:srgbClr val="EAE6CB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015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ransition>
    <p:wipe/>
  </p:transition>
  <p:hf hdr="0" ftr="0" dt="0"/>
  <p:txStyles>
    <p:titleStyle>
      <a:lvl1pPr algn="l" defTabSz="342900" rtl="0" eaLnBrk="0" fontAlgn="base" hangingPunct="0">
        <a:spcBef>
          <a:spcPct val="0"/>
        </a:spcBef>
        <a:spcAft>
          <a:spcPct val="0"/>
        </a:spcAft>
        <a:defRPr sz="3100" kern="1200">
          <a:solidFill>
            <a:schemeClr val="tx2"/>
          </a:solidFill>
          <a:latin typeface="+mj-lt"/>
          <a:ea typeface="+mj-ea"/>
          <a:cs typeface="方正正中黑简体"/>
        </a:defRPr>
      </a:lvl1pPr>
      <a:lvl2pPr algn="l" defTabSz="342900" rtl="0" eaLnBrk="0" fontAlgn="base" hangingPunct="0">
        <a:spcBef>
          <a:spcPct val="0"/>
        </a:spcBef>
        <a:spcAft>
          <a:spcPct val="0"/>
        </a:spcAft>
        <a:defRPr sz="3100">
          <a:solidFill>
            <a:schemeClr val="tx2"/>
          </a:solidFill>
          <a:latin typeface="Broadway" panose="04040905080B02020502" pitchFamily="82" charset="0"/>
          <a:ea typeface="方正正中黑简体"/>
          <a:cs typeface="方正正中黑简体"/>
        </a:defRPr>
      </a:lvl2pPr>
      <a:lvl3pPr algn="l" defTabSz="342900" rtl="0" eaLnBrk="0" fontAlgn="base" hangingPunct="0">
        <a:spcBef>
          <a:spcPct val="0"/>
        </a:spcBef>
        <a:spcAft>
          <a:spcPct val="0"/>
        </a:spcAft>
        <a:defRPr sz="3100">
          <a:solidFill>
            <a:schemeClr val="tx2"/>
          </a:solidFill>
          <a:latin typeface="Broadway" panose="04040905080B02020502" pitchFamily="82" charset="0"/>
          <a:ea typeface="方正正中黑简体"/>
          <a:cs typeface="方正正中黑简体"/>
        </a:defRPr>
      </a:lvl3pPr>
      <a:lvl4pPr algn="l" defTabSz="342900" rtl="0" eaLnBrk="0" fontAlgn="base" hangingPunct="0">
        <a:spcBef>
          <a:spcPct val="0"/>
        </a:spcBef>
        <a:spcAft>
          <a:spcPct val="0"/>
        </a:spcAft>
        <a:defRPr sz="3100">
          <a:solidFill>
            <a:schemeClr val="tx2"/>
          </a:solidFill>
          <a:latin typeface="Broadway" panose="04040905080B02020502" pitchFamily="82" charset="0"/>
          <a:ea typeface="方正正中黑简体"/>
          <a:cs typeface="方正正中黑简体"/>
        </a:defRPr>
      </a:lvl4pPr>
      <a:lvl5pPr algn="l" defTabSz="342900" rtl="0" eaLnBrk="0" fontAlgn="base" hangingPunct="0">
        <a:spcBef>
          <a:spcPct val="0"/>
        </a:spcBef>
        <a:spcAft>
          <a:spcPct val="0"/>
        </a:spcAft>
        <a:defRPr sz="3100">
          <a:solidFill>
            <a:schemeClr val="tx2"/>
          </a:solidFill>
          <a:latin typeface="Broadway" panose="04040905080B02020502" pitchFamily="82" charset="0"/>
          <a:ea typeface="方正正中黑简体"/>
          <a:cs typeface="方正正中黑简体"/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7175" indent="-257175" algn="l" defTabSz="342900" rtl="0" eaLnBrk="0" fontAlgn="base" hangingPunct="0">
        <a:spcBef>
          <a:spcPts val="750"/>
        </a:spcBef>
        <a:spcAft>
          <a:spcPct val="0"/>
        </a:spcAft>
        <a:buClr>
          <a:schemeClr val="accent1"/>
        </a:buClr>
        <a:buSzPct val="80000"/>
        <a:buFont typeface="Wingdings 3" panose="05040102010807070707" pitchFamily="18" charset="2"/>
        <a:buChar char=""/>
        <a:defRPr sz="1500" kern="1200">
          <a:solidFill>
            <a:schemeClr val="tx1"/>
          </a:solidFill>
          <a:latin typeface="+mj-lt"/>
          <a:ea typeface="+mj-ea"/>
          <a:cs typeface="方正正中黑简体"/>
        </a:defRPr>
      </a:lvl1pPr>
      <a:lvl2pPr marL="557530" indent="-214630" algn="l" defTabSz="342900" rtl="0" eaLnBrk="0" fontAlgn="base" hangingPunct="0">
        <a:spcBef>
          <a:spcPts val="750"/>
        </a:spcBef>
        <a:spcAft>
          <a:spcPct val="0"/>
        </a:spcAft>
        <a:buClr>
          <a:schemeClr val="accent1"/>
        </a:buClr>
        <a:buSzPct val="80000"/>
        <a:buFont typeface="Wingdings 3" panose="05040102010807070707" pitchFamily="18" charset="2"/>
        <a:buChar char=""/>
        <a:defRPr sz="1300" kern="1200">
          <a:solidFill>
            <a:schemeClr val="tx1"/>
          </a:solidFill>
          <a:latin typeface="+mj-lt"/>
          <a:ea typeface="+mj-ea"/>
          <a:cs typeface="方正正中黑简体"/>
        </a:defRPr>
      </a:lvl2pPr>
      <a:lvl3pPr marL="857250" indent="-171450" algn="l" defTabSz="342900" rtl="0" eaLnBrk="0" fontAlgn="base" hangingPunct="0">
        <a:spcBef>
          <a:spcPts val="750"/>
        </a:spcBef>
        <a:spcAft>
          <a:spcPct val="0"/>
        </a:spcAft>
        <a:buClr>
          <a:schemeClr val="accent1"/>
        </a:buClr>
        <a:buSzPct val="80000"/>
        <a:buFont typeface="Wingdings 3" panose="05040102010807070707" pitchFamily="18" charset="2"/>
        <a:buChar char=""/>
        <a:defRPr sz="1200" kern="1200">
          <a:solidFill>
            <a:schemeClr val="tx1"/>
          </a:solidFill>
          <a:latin typeface="+mj-lt"/>
          <a:ea typeface="+mj-ea"/>
          <a:cs typeface="方正正中黑简体"/>
        </a:defRPr>
      </a:lvl3pPr>
      <a:lvl4pPr marL="1200150" indent="-171450" algn="l" defTabSz="342900" rtl="0" eaLnBrk="0" fontAlgn="base" hangingPunct="0">
        <a:spcBef>
          <a:spcPts val="750"/>
        </a:spcBef>
        <a:spcAft>
          <a:spcPct val="0"/>
        </a:spcAft>
        <a:buClr>
          <a:schemeClr val="accent1"/>
        </a:buClr>
        <a:buSzPct val="80000"/>
        <a:buFont typeface="Wingdings 3" panose="05040102010807070707" pitchFamily="18" charset="2"/>
        <a:buChar char=""/>
        <a:defRPr sz="1000" kern="1200">
          <a:solidFill>
            <a:schemeClr val="tx1"/>
          </a:solidFill>
          <a:latin typeface="+mj-lt"/>
          <a:ea typeface="+mj-ea"/>
          <a:cs typeface="方正正中黑简体"/>
        </a:defRPr>
      </a:lvl4pPr>
      <a:lvl5pPr marL="1543050" indent="-171450" algn="l" defTabSz="342900" rtl="0" eaLnBrk="0" fontAlgn="base" hangingPunct="0">
        <a:spcBef>
          <a:spcPts val="750"/>
        </a:spcBef>
        <a:spcAft>
          <a:spcPct val="0"/>
        </a:spcAft>
        <a:buClr>
          <a:schemeClr val="accent1"/>
        </a:buClr>
        <a:buSzPct val="80000"/>
        <a:buFont typeface="Wingdings 3" panose="05040102010807070707" pitchFamily="18" charset="2"/>
        <a:buChar char=""/>
        <a:defRPr sz="1000" kern="1200">
          <a:solidFill>
            <a:schemeClr val="tx1"/>
          </a:solidFill>
          <a:latin typeface="+mj-lt"/>
          <a:ea typeface="+mj-ea"/>
          <a:cs typeface="方正正中黑简体"/>
        </a:defRPr>
      </a:lvl5pPr>
      <a:lvl6pPr marL="18859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panose="05040102010807070707" pitchFamily="18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2288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panose="05040102010807070707" pitchFamily="18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25717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panose="05040102010807070707" pitchFamily="18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29146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panose="05040102010807070707" pitchFamily="18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E71918-5BB5-48A1-B847-28BA0F6365FD}" type="datetimeFigureOut">
              <a:rPr lang="zh-CN" altLang="en-US" smtClean="0"/>
              <a:pPr/>
              <a:t>2025-01-15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B88968-35CB-469A-AD93-52E7A3681EA0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53" r:id="rId12"/>
    <p:sldLayoutId id="2147483654" r:id="rId13"/>
    <p:sldLayoutId id="2147483655" r:id="rId14"/>
    <p:sldLayoutId id="2147483656" r:id="rId15"/>
    <p:sldLayoutId id="2147483658" r:id="rId16"/>
    <p:sldLayoutId id="2147483659" r:id="rId17"/>
    <p:sldLayoutId id="2147483660" r:id="rId18"/>
    <p:sldLayoutId id="2147483661" r:id="rId19"/>
  </p:sldLayoutIdLst>
  <p:transition spd="slow">
    <p:cover dir="rd"/>
  </p:transition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圆角矩形 99">
            <a:extLst>
              <a:ext uri="{FF2B5EF4-FFF2-40B4-BE49-F238E27FC236}">
                <a16:creationId xmlns:a16="http://schemas.microsoft.com/office/drawing/2014/main" id="{34179D0D-8224-0304-E811-98C3D3E30816}"/>
              </a:ext>
            </a:extLst>
          </p:cNvPr>
          <p:cNvSpPr/>
          <p:nvPr/>
        </p:nvSpPr>
        <p:spPr>
          <a:xfrm>
            <a:off x="7706335" y="1318775"/>
            <a:ext cx="1112082" cy="2126593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eaVert" rtlCol="0" anchor="t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码头辅助系统</a:t>
            </a:r>
          </a:p>
        </p:txBody>
      </p:sp>
      <p:sp>
        <p:nvSpPr>
          <p:cNvPr id="11" name="圆角矩形 99">
            <a:extLst>
              <a:ext uri="{FF2B5EF4-FFF2-40B4-BE49-F238E27FC236}">
                <a16:creationId xmlns:a16="http://schemas.microsoft.com/office/drawing/2014/main" id="{E61E9265-F16D-4E03-BB62-ADD750D3F85F}"/>
              </a:ext>
            </a:extLst>
          </p:cNvPr>
          <p:cNvSpPr/>
          <p:nvPr/>
        </p:nvSpPr>
        <p:spPr>
          <a:xfrm>
            <a:off x="1538317" y="3511539"/>
            <a:ext cx="6066756" cy="1122098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eaVert" rtlCol="0" anchor="b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码头设备控制系统</a:t>
            </a:r>
          </a:p>
        </p:txBody>
      </p:sp>
      <p:sp>
        <p:nvSpPr>
          <p:cNvPr id="136" name="圆角矩形 99">
            <a:extLst>
              <a:ext uri="{FF2B5EF4-FFF2-40B4-BE49-F238E27FC236}">
                <a16:creationId xmlns:a16="http://schemas.microsoft.com/office/drawing/2014/main" id="{32407C40-191C-1070-8862-6B386D6127D7}"/>
              </a:ext>
            </a:extLst>
          </p:cNvPr>
          <p:cNvSpPr/>
          <p:nvPr/>
        </p:nvSpPr>
        <p:spPr>
          <a:xfrm>
            <a:off x="1967195" y="4118513"/>
            <a:ext cx="5483223" cy="432000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eaVert" rtlCol="0" anchor="b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司机车载程序</a:t>
            </a:r>
          </a:p>
        </p:txBody>
      </p:sp>
      <p:sp>
        <p:nvSpPr>
          <p:cNvPr id="135" name="圆角矩形 99">
            <a:extLst>
              <a:ext uri="{FF2B5EF4-FFF2-40B4-BE49-F238E27FC236}">
                <a16:creationId xmlns:a16="http://schemas.microsoft.com/office/drawing/2014/main" id="{14C39D77-B1A9-227A-5142-69886085175B}"/>
              </a:ext>
            </a:extLst>
          </p:cNvPr>
          <p:cNvSpPr/>
          <p:nvPr/>
        </p:nvSpPr>
        <p:spPr>
          <a:xfrm>
            <a:off x="1967195" y="3598398"/>
            <a:ext cx="5483223" cy="432000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eaVert" rtlCol="0" anchor="b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自动控制系统</a:t>
            </a:r>
          </a:p>
        </p:txBody>
      </p:sp>
      <p:sp>
        <p:nvSpPr>
          <p:cNvPr id="12" name="圆角矩形 99">
            <a:extLst>
              <a:ext uri="{FF2B5EF4-FFF2-40B4-BE49-F238E27FC236}">
                <a16:creationId xmlns:a16="http://schemas.microsoft.com/office/drawing/2014/main" id="{158408C4-0E80-4E83-A230-32555C655234}"/>
              </a:ext>
            </a:extLst>
          </p:cNvPr>
          <p:cNvSpPr/>
          <p:nvPr/>
        </p:nvSpPr>
        <p:spPr>
          <a:xfrm>
            <a:off x="1538316" y="1318777"/>
            <a:ext cx="6066756" cy="2126594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eaVert" rtlCol="0" anchor="b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码头生产操作系统</a:t>
            </a:r>
          </a:p>
        </p:txBody>
      </p:sp>
      <p:sp>
        <p:nvSpPr>
          <p:cNvPr id="30" name="圆角矩形 99">
            <a:extLst>
              <a:ext uri="{FF2B5EF4-FFF2-40B4-BE49-F238E27FC236}">
                <a16:creationId xmlns:a16="http://schemas.microsoft.com/office/drawing/2014/main" id="{B2CDA482-9EEA-472C-BAE1-8813486C91CA}"/>
              </a:ext>
            </a:extLst>
          </p:cNvPr>
          <p:cNvSpPr/>
          <p:nvPr/>
        </p:nvSpPr>
        <p:spPr>
          <a:xfrm>
            <a:off x="1538316" y="703819"/>
            <a:ext cx="6066756" cy="526844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eaVert" rtlCol="0" anchor="b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码头生产业务系统</a:t>
            </a:r>
          </a:p>
        </p:txBody>
      </p:sp>
      <p:sp>
        <p:nvSpPr>
          <p:cNvPr id="2" name="圆角矩形 99">
            <a:extLst>
              <a:ext uri="{FF2B5EF4-FFF2-40B4-BE49-F238E27FC236}">
                <a16:creationId xmlns:a16="http://schemas.microsoft.com/office/drawing/2014/main" id="{F1DA73C7-A5F3-177F-AE59-211A4FEC083D}"/>
              </a:ext>
            </a:extLst>
          </p:cNvPr>
          <p:cNvSpPr/>
          <p:nvPr/>
        </p:nvSpPr>
        <p:spPr>
          <a:xfrm>
            <a:off x="2494975" y="3682326"/>
            <a:ext cx="1133889" cy="270474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岸桥设备管理系统</a:t>
            </a:r>
          </a:p>
        </p:txBody>
      </p:sp>
      <p:sp>
        <p:nvSpPr>
          <p:cNvPr id="3" name="圆角矩形 99">
            <a:extLst>
              <a:ext uri="{FF2B5EF4-FFF2-40B4-BE49-F238E27FC236}">
                <a16:creationId xmlns:a16="http://schemas.microsoft.com/office/drawing/2014/main" id="{1430059E-6143-51F0-25E7-06F9C7656E68}"/>
              </a:ext>
            </a:extLst>
          </p:cNvPr>
          <p:cNvSpPr/>
          <p:nvPr/>
        </p:nvSpPr>
        <p:spPr>
          <a:xfrm>
            <a:off x="3721577" y="3682326"/>
            <a:ext cx="1133889" cy="270474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水平运输设备管理系统</a:t>
            </a:r>
          </a:p>
        </p:txBody>
      </p:sp>
      <p:sp>
        <p:nvSpPr>
          <p:cNvPr id="5" name="圆角矩形 99">
            <a:extLst>
              <a:ext uri="{FF2B5EF4-FFF2-40B4-BE49-F238E27FC236}">
                <a16:creationId xmlns:a16="http://schemas.microsoft.com/office/drawing/2014/main" id="{80F32062-ADC3-62F0-8337-E5F456F11C76}"/>
              </a:ext>
            </a:extLst>
          </p:cNvPr>
          <p:cNvSpPr/>
          <p:nvPr/>
        </p:nvSpPr>
        <p:spPr>
          <a:xfrm>
            <a:off x="4948179" y="3682326"/>
            <a:ext cx="1133889" cy="270474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场桥设备管理系统</a:t>
            </a:r>
          </a:p>
        </p:txBody>
      </p:sp>
      <p:sp>
        <p:nvSpPr>
          <p:cNvPr id="131" name="圆角矩形 99">
            <a:extLst>
              <a:ext uri="{FF2B5EF4-FFF2-40B4-BE49-F238E27FC236}">
                <a16:creationId xmlns:a16="http://schemas.microsoft.com/office/drawing/2014/main" id="{B6E1D7CD-C951-C531-16A3-AE32065053C5}"/>
              </a:ext>
            </a:extLst>
          </p:cNvPr>
          <p:cNvSpPr/>
          <p:nvPr/>
        </p:nvSpPr>
        <p:spPr>
          <a:xfrm>
            <a:off x="2494975" y="4201161"/>
            <a:ext cx="1133889" cy="270474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岸桥车载应用程序</a:t>
            </a:r>
          </a:p>
        </p:txBody>
      </p:sp>
      <p:sp>
        <p:nvSpPr>
          <p:cNvPr id="132" name="圆角矩形 99">
            <a:extLst>
              <a:ext uri="{FF2B5EF4-FFF2-40B4-BE49-F238E27FC236}">
                <a16:creationId xmlns:a16="http://schemas.microsoft.com/office/drawing/2014/main" id="{5D8A83BB-979A-2726-3EF7-81ADC4A629C4}"/>
              </a:ext>
            </a:extLst>
          </p:cNvPr>
          <p:cNvSpPr/>
          <p:nvPr/>
        </p:nvSpPr>
        <p:spPr>
          <a:xfrm>
            <a:off x="3721577" y="4201161"/>
            <a:ext cx="1133889" cy="270474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集卡车载应用程序</a:t>
            </a:r>
          </a:p>
        </p:txBody>
      </p:sp>
      <p:sp>
        <p:nvSpPr>
          <p:cNvPr id="133" name="圆角矩形 99">
            <a:extLst>
              <a:ext uri="{FF2B5EF4-FFF2-40B4-BE49-F238E27FC236}">
                <a16:creationId xmlns:a16="http://schemas.microsoft.com/office/drawing/2014/main" id="{17957048-1B65-6AA8-3485-99C39A55E28D}"/>
              </a:ext>
            </a:extLst>
          </p:cNvPr>
          <p:cNvSpPr/>
          <p:nvPr/>
        </p:nvSpPr>
        <p:spPr>
          <a:xfrm>
            <a:off x="4948178" y="4201161"/>
            <a:ext cx="1133889" cy="270474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场桥车载应用程序</a:t>
            </a:r>
          </a:p>
        </p:txBody>
      </p:sp>
      <p:sp>
        <p:nvSpPr>
          <p:cNvPr id="137" name="圆角矩形 99">
            <a:extLst>
              <a:ext uri="{FF2B5EF4-FFF2-40B4-BE49-F238E27FC236}">
                <a16:creationId xmlns:a16="http://schemas.microsoft.com/office/drawing/2014/main" id="{F551D6D3-1D22-DDCC-E4AF-A5D7C97A6989}"/>
              </a:ext>
            </a:extLst>
          </p:cNvPr>
          <p:cNvSpPr/>
          <p:nvPr/>
        </p:nvSpPr>
        <p:spPr>
          <a:xfrm>
            <a:off x="1967192" y="1729046"/>
            <a:ext cx="2690705" cy="270000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泊位</a:t>
            </a:r>
            <a:r>
              <a:rPr lang="en-US" altLang="zh-CN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箱区分配</a:t>
            </a:r>
            <a:endParaRPr lang="en-US" altLang="zh-CN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Berth-Yard Allocation System</a:t>
            </a:r>
            <a:endParaRPr lang="zh-CN" altLang="en-US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9" name="圆角矩形 99">
            <a:extLst>
              <a:ext uri="{FF2B5EF4-FFF2-40B4-BE49-F238E27FC236}">
                <a16:creationId xmlns:a16="http://schemas.microsoft.com/office/drawing/2014/main" id="{84D32B4C-27E0-80FD-953F-9884F44CE62C}"/>
              </a:ext>
            </a:extLst>
          </p:cNvPr>
          <p:cNvSpPr/>
          <p:nvPr/>
        </p:nvSpPr>
        <p:spPr>
          <a:xfrm>
            <a:off x="1966641" y="2748555"/>
            <a:ext cx="1778921" cy="270000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岸桥调度</a:t>
            </a:r>
            <a:endParaRPr lang="en-US" altLang="zh-CN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Quay Crane Scheduling System</a:t>
            </a:r>
            <a:endParaRPr lang="zh-CN" altLang="en-US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0" name="圆角矩形 99">
            <a:extLst>
              <a:ext uri="{FF2B5EF4-FFF2-40B4-BE49-F238E27FC236}">
                <a16:creationId xmlns:a16="http://schemas.microsoft.com/office/drawing/2014/main" id="{090E9D88-C755-FA2B-13AB-3673E19F3D11}"/>
              </a:ext>
            </a:extLst>
          </p:cNvPr>
          <p:cNvSpPr/>
          <p:nvPr/>
        </p:nvSpPr>
        <p:spPr>
          <a:xfrm>
            <a:off x="3816485" y="2748555"/>
            <a:ext cx="1778921" cy="270000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内集卡调度</a:t>
            </a:r>
            <a:endParaRPr lang="en-US" altLang="zh-CN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Internal Truck Scheduling System</a:t>
            </a:r>
            <a:endParaRPr lang="zh-CN" altLang="en-US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1" name="圆角矩形 99">
            <a:extLst>
              <a:ext uri="{FF2B5EF4-FFF2-40B4-BE49-F238E27FC236}">
                <a16:creationId xmlns:a16="http://schemas.microsoft.com/office/drawing/2014/main" id="{2C930D1C-CA52-3AF7-EAF8-22E56CFAFA04}"/>
              </a:ext>
            </a:extLst>
          </p:cNvPr>
          <p:cNvSpPr/>
          <p:nvPr/>
        </p:nvSpPr>
        <p:spPr>
          <a:xfrm>
            <a:off x="5666329" y="2748555"/>
            <a:ext cx="1778921" cy="270000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场桥调度</a:t>
            </a:r>
            <a:endParaRPr lang="en-US" altLang="zh-CN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Gantry Crane Scheduling System</a:t>
            </a:r>
            <a:endParaRPr lang="zh-CN" altLang="en-US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2" name="圆角矩形 99">
            <a:extLst>
              <a:ext uri="{FF2B5EF4-FFF2-40B4-BE49-F238E27FC236}">
                <a16:creationId xmlns:a16="http://schemas.microsoft.com/office/drawing/2014/main" id="{745D832E-57FA-844E-BBD1-37C351D46020}"/>
              </a:ext>
            </a:extLst>
          </p:cNvPr>
          <p:cNvSpPr/>
          <p:nvPr/>
        </p:nvSpPr>
        <p:spPr>
          <a:xfrm>
            <a:off x="1967193" y="3086348"/>
            <a:ext cx="5483224" cy="270000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设备控制总线</a:t>
            </a:r>
            <a:endParaRPr lang="en-US" altLang="zh-CN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Equipment Control Bus</a:t>
            </a:r>
          </a:p>
        </p:txBody>
      </p:sp>
      <p:sp>
        <p:nvSpPr>
          <p:cNvPr id="152" name="圆角矩形 99">
            <a:extLst>
              <a:ext uri="{FF2B5EF4-FFF2-40B4-BE49-F238E27FC236}">
                <a16:creationId xmlns:a16="http://schemas.microsoft.com/office/drawing/2014/main" id="{9ABA44E1-BD5E-1CD0-5328-A56C4BAEAF90}"/>
              </a:ext>
            </a:extLst>
          </p:cNvPr>
          <p:cNvSpPr/>
          <p:nvPr/>
        </p:nvSpPr>
        <p:spPr>
          <a:xfrm>
            <a:off x="1538316" y="4711500"/>
            <a:ext cx="6066756" cy="432000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eaVert" rtlCol="0" anchor="b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机械设备</a:t>
            </a:r>
          </a:p>
        </p:txBody>
      </p:sp>
      <p:sp>
        <p:nvSpPr>
          <p:cNvPr id="155" name="圆角矩形 99">
            <a:extLst>
              <a:ext uri="{FF2B5EF4-FFF2-40B4-BE49-F238E27FC236}">
                <a16:creationId xmlns:a16="http://schemas.microsoft.com/office/drawing/2014/main" id="{CE5794E2-178C-7BE0-AD7D-DDAA576DED90}"/>
              </a:ext>
            </a:extLst>
          </p:cNvPr>
          <p:cNvSpPr/>
          <p:nvPr/>
        </p:nvSpPr>
        <p:spPr>
          <a:xfrm>
            <a:off x="2494976" y="4781543"/>
            <a:ext cx="1133889" cy="270474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岸桥</a:t>
            </a:r>
          </a:p>
        </p:txBody>
      </p:sp>
      <p:sp>
        <p:nvSpPr>
          <p:cNvPr id="156" name="圆角矩形 99">
            <a:extLst>
              <a:ext uri="{FF2B5EF4-FFF2-40B4-BE49-F238E27FC236}">
                <a16:creationId xmlns:a16="http://schemas.microsoft.com/office/drawing/2014/main" id="{4BB5982B-8BF5-3F7C-893F-7326CD09A26F}"/>
              </a:ext>
            </a:extLst>
          </p:cNvPr>
          <p:cNvSpPr/>
          <p:nvPr/>
        </p:nvSpPr>
        <p:spPr>
          <a:xfrm>
            <a:off x="3721577" y="4781543"/>
            <a:ext cx="1133889" cy="270474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水平运输设备</a:t>
            </a:r>
            <a:r>
              <a:rPr lang="en-US" altLang="zh-CN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集卡</a:t>
            </a:r>
          </a:p>
        </p:txBody>
      </p:sp>
      <p:sp>
        <p:nvSpPr>
          <p:cNvPr id="157" name="圆角矩形 99">
            <a:extLst>
              <a:ext uri="{FF2B5EF4-FFF2-40B4-BE49-F238E27FC236}">
                <a16:creationId xmlns:a16="http://schemas.microsoft.com/office/drawing/2014/main" id="{5B4661A0-BF7C-F192-B13F-A8970A52160C}"/>
              </a:ext>
            </a:extLst>
          </p:cNvPr>
          <p:cNvSpPr/>
          <p:nvPr/>
        </p:nvSpPr>
        <p:spPr>
          <a:xfrm>
            <a:off x="4948178" y="4781543"/>
            <a:ext cx="1133888" cy="270474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场桥</a:t>
            </a:r>
          </a:p>
        </p:txBody>
      </p:sp>
      <p:sp>
        <p:nvSpPr>
          <p:cNvPr id="162" name="圆角矩形 99">
            <a:extLst>
              <a:ext uri="{FF2B5EF4-FFF2-40B4-BE49-F238E27FC236}">
                <a16:creationId xmlns:a16="http://schemas.microsoft.com/office/drawing/2014/main" id="{AA485FEF-4772-57A7-3754-F215D50242BE}"/>
              </a:ext>
            </a:extLst>
          </p:cNvPr>
          <p:cNvSpPr/>
          <p:nvPr/>
        </p:nvSpPr>
        <p:spPr>
          <a:xfrm>
            <a:off x="6174777" y="4781543"/>
            <a:ext cx="1133887" cy="270474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能源设备</a:t>
            </a:r>
          </a:p>
        </p:txBody>
      </p:sp>
      <p:sp>
        <p:nvSpPr>
          <p:cNvPr id="163" name="圆角矩形 99">
            <a:extLst>
              <a:ext uri="{FF2B5EF4-FFF2-40B4-BE49-F238E27FC236}">
                <a16:creationId xmlns:a16="http://schemas.microsoft.com/office/drawing/2014/main" id="{8FFC713B-8625-8D6D-1FF0-B58252E25F28}"/>
              </a:ext>
            </a:extLst>
          </p:cNvPr>
          <p:cNvSpPr/>
          <p:nvPr/>
        </p:nvSpPr>
        <p:spPr>
          <a:xfrm>
            <a:off x="6174782" y="3682326"/>
            <a:ext cx="1133889" cy="270474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能源设备管理系统</a:t>
            </a:r>
          </a:p>
        </p:txBody>
      </p:sp>
      <p:sp>
        <p:nvSpPr>
          <p:cNvPr id="166" name="圆角矩形 99">
            <a:extLst>
              <a:ext uri="{FF2B5EF4-FFF2-40B4-BE49-F238E27FC236}">
                <a16:creationId xmlns:a16="http://schemas.microsoft.com/office/drawing/2014/main" id="{78534884-D799-FE84-8282-02224D869AD8}"/>
              </a:ext>
            </a:extLst>
          </p:cNvPr>
          <p:cNvSpPr/>
          <p:nvPr/>
        </p:nvSpPr>
        <p:spPr>
          <a:xfrm>
            <a:off x="1538316" y="180504"/>
            <a:ext cx="6066756" cy="432000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eaVert" rtlCol="0" anchor="b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外部系统</a:t>
            </a:r>
          </a:p>
        </p:txBody>
      </p:sp>
      <p:sp>
        <p:nvSpPr>
          <p:cNvPr id="167" name="圆角矩形 99">
            <a:extLst>
              <a:ext uri="{FF2B5EF4-FFF2-40B4-BE49-F238E27FC236}">
                <a16:creationId xmlns:a16="http://schemas.microsoft.com/office/drawing/2014/main" id="{5C770D97-FC4E-96E7-66BE-0896A6E24C7E}"/>
              </a:ext>
            </a:extLst>
          </p:cNvPr>
          <p:cNvSpPr/>
          <p:nvPr/>
        </p:nvSpPr>
        <p:spPr>
          <a:xfrm>
            <a:off x="3816484" y="257264"/>
            <a:ext cx="1778921" cy="270000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客户业务系统（船公司系统等）</a:t>
            </a:r>
          </a:p>
        </p:txBody>
      </p:sp>
      <p:sp>
        <p:nvSpPr>
          <p:cNvPr id="168" name="圆角矩形 99">
            <a:extLst>
              <a:ext uri="{FF2B5EF4-FFF2-40B4-BE49-F238E27FC236}">
                <a16:creationId xmlns:a16="http://schemas.microsoft.com/office/drawing/2014/main" id="{27A21263-31F9-98A4-F3DA-C34B7DDDCC17}"/>
              </a:ext>
            </a:extLst>
          </p:cNvPr>
          <p:cNvSpPr/>
          <p:nvPr/>
        </p:nvSpPr>
        <p:spPr>
          <a:xfrm>
            <a:off x="5666326" y="257264"/>
            <a:ext cx="1778923" cy="270000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监管单位系统（海关等系统）</a:t>
            </a:r>
          </a:p>
        </p:txBody>
      </p:sp>
      <p:sp>
        <p:nvSpPr>
          <p:cNvPr id="173" name="圆角矩形 99">
            <a:extLst>
              <a:ext uri="{FF2B5EF4-FFF2-40B4-BE49-F238E27FC236}">
                <a16:creationId xmlns:a16="http://schemas.microsoft.com/office/drawing/2014/main" id="{291DD085-559D-D8E3-D022-1291F14F6B00}"/>
              </a:ext>
            </a:extLst>
          </p:cNvPr>
          <p:cNvSpPr/>
          <p:nvPr/>
        </p:nvSpPr>
        <p:spPr>
          <a:xfrm>
            <a:off x="1966641" y="257264"/>
            <a:ext cx="1778921" cy="270000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网上业务受理系统</a:t>
            </a:r>
          </a:p>
        </p:txBody>
      </p:sp>
      <p:sp>
        <p:nvSpPr>
          <p:cNvPr id="145" name="圆角矩形 99">
            <a:extLst>
              <a:ext uri="{FF2B5EF4-FFF2-40B4-BE49-F238E27FC236}">
                <a16:creationId xmlns:a16="http://schemas.microsoft.com/office/drawing/2014/main" id="{E9B49A93-F36A-B73F-D223-249FDF3D025E}"/>
              </a:ext>
            </a:extLst>
          </p:cNvPr>
          <p:cNvSpPr/>
          <p:nvPr/>
        </p:nvSpPr>
        <p:spPr>
          <a:xfrm>
            <a:off x="1972829" y="782697"/>
            <a:ext cx="864000" cy="360000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基础信息管理</a:t>
            </a:r>
          </a:p>
        </p:txBody>
      </p:sp>
      <p:sp>
        <p:nvSpPr>
          <p:cNvPr id="146" name="圆角矩形 99">
            <a:extLst>
              <a:ext uri="{FF2B5EF4-FFF2-40B4-BE49-F238E27FC236}">
                <a16:creationId xmlns:a16="http://schemas.microsoft.com/office/drawing/2014/main" id="{170265F3-E9DA-F60B-ECA7-05FFC9F12B23}"/>
              </a:ext>
            </a:extLst>
          </p:cNvPr>
          <p:cNvSpPr/>
          <p:nvPr/>
        </p:nvSpPr>
        <p:spPr>
          <a:xfrm>
            <a:off x="3815679" y="782697"/>
            <a:ext cx="864000" cy="360000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船舶计划</a:t>
            </a:r>
          </a:p>
        </p:txBody>
      </p:sp>
      <p:sp>
        <p:nvSpPr>
          <p:cNvPr id="147" name="圆角矩形 99">
            <a:extLst>
              <a:ext uri="{FF2B5EF4-FFF2-40B4-BE49-F238E27FC236}">
                <a16:creationId xmlns:a16="http://schemas.microsoft.com/office/drawing/2014/main" id="{A9E1DE16-0295-6561-0AC1-FFAE14814F65}"/>
              </a:ext>
            </a:extLst>
          </p:cNvPr>
          <p:cNvSpPr/>
          <p:nvPr/>
        </p:nvSpPr>
        <p:spPr>
          <a:xfrm>
            <a:off x="4737104" y="782697"/>
            <a:ext cx="864000" cy="360000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单证与电子数据处理</a:t>
            </a:r>
          </a:p>
        </p:txBody>
      </p:sp>
      <p:sp>
        <p:nvSpPr>
          <p:cNvPr id="148" name="圆角矩形 99">
            <a:extLst>
              <a:ext uri="{FF2B5EF4-FFF2-40B4-BE49-F238E27FC236}">
                <a16:creationId xmlns:a16="http://schemas.microsoft.com/office/drawing/2014/main" id="{EFD4FB0A-B264-3AA7-D5ED-CA1CFB64ED62}"/>
              </a:ext>
            </a:extLst>
          </p:cNvPr>
          <p:cNvSpPr/>
          <p:nvPr/>
        </p:nvSpPr>
        <p:spPr>
          <a:xfrm>
            <a:off x="5658529" y="782697"/>
            <a:ext cx="864000" cy="360000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闸口业务管理</a:t>
            </a:r>
          </a:p>
        </p:txBody>
      </p:sp>
      <p:sp>
        <p:nvSpPr>
          <p:cNvPr id="149" name="圆角矩形 99">
            <a:extLst>
              <a:ext uri="{FF2B5EF4-FFF2-40B4-BE49-F238E27FC236}">
                <a16:creationId xmlns:a16="http://schemas.microsoft.com/office/drawing/2014/main" id="{50136B3C-6851-EBF0-60C9-724D71179F61}"/>
              </a:ext>
            </a:extLst>
          </p:cNvPr>
          <p:cNvSpPr/>
          <p:nvPr/>
        </p:nvSpPr>
        <p:spPr>
          <a:xfrm>
            <a:off x="2894254" y="782697"/>
            <a:ext cx="864000" cy="360000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业务预约受理</a:t>
            </a:r>
          </a:p>
        </p:txBody>
      </p:sp>
      <p:sp>
        <p:nvSpPr>
          <p:cNvPr id="150" name="圆角矩形 99">
            <a:extLst>
              <a:ext uri="{FF2B5EF4-FFF2-40B4-BE49-F238E27FC236}">
                <a16:creationId xmlns:a16="http://schemas.microsoft.com/office/drawing/2014/main" id="{87A1A77C-4B4F-3393-BAFA-80186BBF7389}"/>
              </a:ext>
            </a:extLst>
          </p:cNvPr>
          <p:cNvSpPr/>
          <p:nvPr/>
        </p:nvSpPr>
        <p:spPr>
          <a:xfrm>
            <a:off x="6579954" y="781680"/>
            <a:ext cx="864000" cy="360000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计费结算</a:t>
            </a:r>
          </a:p>
        </p:txBody>
      </p:sp>
      <p:sp>
        <p:nvSpPr>
          <p:cNvPr id="175" name="圆角矩形 99">
            <a:extLst>
              <a:ext uri="{FF2B5EF4-FFF2-40B4-BE49-F238E27FC236}">
                <a16:creationId xmlns:a16="http://schemas.microsoft.com/office/drawing/2014/main" id="{E602FDC0-D2BA-C539-6127-C5B0BE44D5F5}"/>
              </a:ext>
            </a:extLst>
          </p:cNvPr>
          <p:cNvSpPr/>
          <p:nvPr/>
        </p:nvSpPr>
        <p:spPr>
          <a:xfrm>
            <a:off x="1966641" y="1396603"/>
            <a:ext cx="5483224" cy="270000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生产调度总线</a:t>
            </a:r>
            <a:endParaRPr lang="en-US" altLang="zh-CN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Production Scheduling Bus</a:t>
            </a:r>
          </a:p>
        </p:txBody>
      </p:sp>
      <p:sp>
        <p:nvSpPr>
          <p:cNvPr id="176" name="圆角矩形 99">
            <a:extLst>
              <a:ext uri="{FF2B5EF4-FFF2-40B4-BE49-F238E27FC236}">
                <a16:creationId xmlns:a16="http://schemas.microsoft.com/office/drawing/2014/main" id="{5C7AAD31-A716-683A-8493-9631CB2F5438}"/>
              </a:ext>
            </a:extLst>
          </p:cNvPr>
          <p:cNvSpPr/>
          <p:nvPr/>
        </p:nvSpPr>
        <p:spPr>
          <a:xfrm>
            <a:off x="7706335" y="3511539"/>
            <a:ext cx="1112082" cy="1122098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eaVert"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物联网设备</a:t>
            </a:r>
          </a:p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OCR</a:t>
            </a:r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、传感器等）</a:t>
            </a:r>
          </a:p>
        </p:txBody>
      </p:sp>
      <p:sp>
        <p:nvSpPr>
          <p:cNvPr id="177" name="圆角矩形 99">
            <a:extLst>
              <a:ext uri="{FF2B5EF4-FFF2-40B4-BE49-F238E27FC236}">
                <a16:creationId xmlns:a16="http://schemas.microsoft.com/office/drawing/2014/main" id="{2BB8D7C1-8557-4343-FCF0-FF780F45049D}"/>
              </a:ext>
            </a:extLst>
          </p:cNvPr>
          <p:cNvSpPr/>
          <p:nvPr/>
        </p:nvSpPr>
        <p:spPr>
          <a:xfrm>
            <a:off x="1967193" y="2411197"/>
            <a:ext cx="5483224" cy="270000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设备集成调度</a:t>
            </a:r>
            <a:endParaRPr lang="en-US" altLang="zh-CN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Integrated Scheduling System </a:t>
            </a:r>
            <a:endParaRPr lang="zh-CN" altLang="en-US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3" name="圆角矩形 99">
            <a:extLst>
              <a:ext uri="{FF2B5EF4-FFF2-40B4-BE49-F238E27FC236}">
                <a16:creationId xmlns:a16="http://schemas.microsoft.com/office/drawing/2014/main" id="{4D8A500E-43EC-051B-AF66-0F9EB06D5748}"/>
              </a:ext>
            </a:extLst>
          </p:cNvPr>
          <p:cNvSpPr/>
          <p:nvPr/>
        </p:nvSpPr>
        <p:spPr>
          <a:xfrm>
            <a:off x="4759160" y="2068506"/>
            <a:ext cx="2690705" cy="270000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岸桥</a:t>
            </a:r>
            <a:r>
              <a:rPr lang="en-US" altLang="zh-CN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场桥指派</a:t>
            </a:r>
            <a:endParaRPr lang="en-US" altLang="zh-CN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Crane Assignment System</a:t>
            </a:r>
            <a:endParaRPr lang="zh-CN" altLang="en-US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4" name="圆角矩形 99">
            <a:extLst>
              <a:ext uri="{FF2B5EF4-FFF2-40B4-BE49-F238E27FC236}">
                <a16:creationId xmlns:a16="http://schemas.microsoft.com/office/drawing/2014/main" id="{96C367CF-4663-2FEF-B7F5-535AE902F50D}"/>
              </a:ext>
            </a:extLst>
          </p:cNvPr>
          <p:cNvSpPr/>
          <p:nvPr/>
        </p:nvSpPr>
        <p:spPr>
          <a:xfrm>
            <a:off x="4759160" y="1729046"/>
            <a:ext cx="2690705" cy="270000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船舶配载计划</a:t>
            </a:r>
            <a:endParaRPr lang="en-US" altLang="zh-CN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Stowage Planning System</a:t>
            </a:r>
            <a:endParaRPr lang="zh-CN" altLang="en-US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5" name="圆角矩形 99">
            <a:extLst>
              <a:ext uri="{FF2B5EF4-FFF2-40B4-BE49-F238E27FC236}">
                <a16:creationId xmlns:a16="http://schemas.microsoft.com/office/drawing/2014/main" id="{AB1DF4C4-9719-906C-854C-CC93165D9454}"/>
              </a:ext>
            </a:extLst>
          </p:cNvPr>
          <p:cNvSpPr/>
          <p:nvPr/>
        </p:nvSpPr>
        <p:spPr>
          <a:xfrm>
            <a:off x="1967192" y="2068506"/>
            <a:ext cx="2690705" cy="270000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工班作业计划</a:t>
            </a:r>
            <a:endParaRPr lang="en-US" altLang="zh-CN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Operation Planning System</a:t>
            </a:r>
            <a:endParaRPr lang="zh-CN" altLang="en-US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6" name="圆角矩形 99">
            <a:extLst>
              <a:ext uri="{FF2B5EF4-FFF2-40B4-BE49-F238E27FC236}">
                <a16:creationId xmlns:a16="http://schemas.microsoft.com/office/drawing/2014/main" id="{5754965B-8EB1-EA8F-A78F-7B1EAA947C83}"/>
              </a:ext>
            </a:extLst>
          </p:cNvPr>
          <p:cNvSpPr/>
          <p:nvPr/>
        </p:nvSpPr>
        <p:spPr>
          <a:xfrm>
            <a:off x="321053" y="1318775"/>
            <a:ext cx="1112400" cy="2126593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eaVert"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码头监控系统</a:t>
            </a:r>
            <a:endParaRPr lang="en-US" altLang="zh-CN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Terminal Monitoring System</a:t>
            </a:r>
            <a:endParaRPr lang="zh-CN" altLang="en-US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圆角矩形 99">
            <a:extLst>
              <a:ext uri="{FF2B5EF4-FFF2-40B4-BE49-F238E27FC236}">
                <a16:creationId xmlns:a16="http://schemas.microsoft.com/office/drawing/2014/main" id="{85ADEFBB-5DE5-B863-ED4A-AF241C67A3F3}"/>
              </a:ext>
            </a:extLst>
          </p:cNvPr>
          <p:cNvSpPr/>
          <p:nvPr/>
        </p:nvSpPr>
        <p:spPr>
          <a:xfrm>
            <a:off x="7778050" y="1396603"/>
            <a:ext cx="363686" cy="1959745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eaVert"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码头智能理货系统</a:t>
            </a:r>
            <a:endParaRPr lang="en-US" altLang="zh-CN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Terminal Intelligent Tallying System</a:t>
            </a:r>
            <a:endParaRPr lang="zh-CN" altLang="en-US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圆角矩形 99">
            <a:extLst>
              <a:ext uri="{FF2B5EF4-FFF2-40B4-BE49-F238E27FC236}">
                <a16:creationId xmlns:a16="http://schemas.microsoft.com/office/drawing/2014/main" id="{A839C7E0-FE88-80C4-FA8E-7C86FD3DEDA0}"/>
              </a:ext>
            </a:extLst>
          </p:cNvPr>
          <p:cNvSpPr/>
          <p:nvPr/>
        </p:nvSpPr>
        <p:spPr>
          <a:xfrm>
            <a:off x="8198863" y="1396603"/>
            <a:ext cx="363686" cy="1959745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eaVert"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码头智能道口系统</a:t>
            </a:r>
            <a:endParaRPr lang="en-US" altLang="zh-CN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Terminal Intelligent Gate System</a:t>
            </a:r>
            <a:endParaRPr lang="zh-CN" altLang="en-US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80986900"/>
      </p:ext>
    </p:extLst>
  </p:cSld>
  <p:clrMapOvr>
    <a:masterClrMapping/>
  </p:clrMapOvr>
  <p:transition spd="slow">
    <p:split orient="vert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圆角矩形 99">
            <a:extLst>
              <a:ext uri="{FF2B5EF4-FFF2-40B4-BE49-F238E27FC236}">
                <a16:creationId xmlns:a16="http://schemas.microsoft.com/office/drawing/2014/main" id="{F551D6D3-1D22-DDCC-E4AF-A5D7C97A6989}"/>
              </a:ext>
            </a:extLst>
          </p:cNvPr>
          <p:cNvSpPr/>
          <p:nvPr/>
        </p:nvSpPr>
        <p:spPr>
          <a:xfrm>
            <a:off x="3112126" y="1102556"/>
            <a:ext cx="522191" cy="668819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泊位</a:t>
            </a:r>
            <a:r>
              <a:rPr lang="en-US" altLang="zh-CN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箱区策划</a:t>
            </a:r>
          </a:p>
        </p:txBody>
      </p:sp>
      <p:sp>
        <p:nvSpPr>
          <p:cNvPr id="139" name="圆角矩形 99">
            <a:extLst>
              <a:ext uri="{FF2B5EF4-FFF2-40B4-BE49-F238E27FC236}">
                <a16:creationId xmlns:a16="http://schemas.microsoft.com/office/drawing/2014/main" id="{84D32B4C-27E0-80FD-953F-9884F44CE62C}"/>
              </a:ext>
            </a:extLst>
          </p:cNvPr>
          <p:cNvSpPr/>
          <p:nvPr/>
        </p:nvSpPr>
        <p:spPr>
          <a:xfrm>
            <a:off x="3173334" y="3642661"/>
            <a:ext cx="522191" cy="668819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岸桥调度</a:t>
            </a:r>
          </a:p>
        </p:txBody>
      </p:sp>
      <p:sp>
        <p:nvSpPr>
          <p:cNvPr id="140" name="圆角矩形 99">
            <a:extLst>
              <a:ext uri="{FF2B5EF4-FFF2-40B4-BE49-F238E27FC236}">
                <a16:creationId xmlns:a16="http://schemas.microsoft.com/office/drawing/2014/main" id="{090E9D88-C755-FA2B-13AB-3673E19F3D11}"/>
              </a:ext>
            </a:extLst>
          </p:cNvPr>
          <p:cNvSpPr/>
          <p:nvPr/>
        </p:nvSpPr>
        <p:spPr>
          <a:xfrm>
            <a:off x="4276728" y="3642661"/>
            <a:ext cx="522191" cy="668819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水平运输调度</a:t>
            </a:r>
          </a:p>
        </p:txBody>
      </p:sp>
      <p:sp>
        <p:nvSpPr>
          <p:cNvPr id="141" name="圆角矩形 99">
            <a:extLst>
              <a:ext uri="{FF2B5EF4-FFF2-40B4-BE49-F238E27FC236}">
                <a16:creationId xmlns:a16="http://schemas.microsoft.com/office/drawing/2014/main" id="{2C930D1C-CA52-3AF7-EAF8-22E56CFAFA04}"/>
              </a:ext>
            </a:extLst>
          </p:cNvPr>
          <p:cNvSpPr/>
          <p:nvPr/>
        </p:nvSpPr>
        <p:spPr>
          <a:xfrm>
            <a:off x="5380122" y="3642661"/>
            <a:ext cx="522191" cy="668819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场桥调度</a:t>
            </a:r>
          </a:p>
        </p:txBody>
      </p:sp>
      <p:sp>
        <p:nvSpPr>
          <p:cNvPr id="142" name="圆角矩形 99">
            <a:extLst>
              <a:ext uri="{FF2B5EF4-FFF2-40B4-BE49-F238E27FC236}">
                <a16:creationId xmlns:a16="http://schemas.microsoft.com/office/drawing/2014/main" id="{745D832E-57FA-844E-BBD1-37C351D46020}"/>
              </a:ext>
            </a:extLst>
          </p:cNvPr>
          <p:cNvSpPr/>
          <p:nvPr/>
        </p:nvSpPr>
        <p:spPr>
          <a:xfrm>
            <a:off x="1955756" y="4787847"/>
            <a:ext cx="5643466" cy="270000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设备控制总线</a:t>
            </a:r>
            <a:endParaRPr lang="en-US" altLang="zh-CN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5" name="圆角矩形 99">
            <a:extLst>
              <a:ext uri="{FF2B5EF4-FFF2-40B4-BE49-F238E27FC236}">
                <a16:creationId xmlns:a16="http://schemas.microsoft.com/office/drawing/2014/main" id="{E602FDC0-D2BA-C539-6127-C5B0BE44D5F5}"/>
              </a:ext>
            </a:extLst>
          </p:cNvPr>
          <p:cNvSpPr/>
          <p:nvPr/>
        </p:nvSpPr>
        <p:spPr>
          <a:xfrm>
            <a:off x="1955756" y="478624"/>
            <a:ext cx="5643466" cy="270000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生产调度总线</a:t>
            </a:r>
          </a:p>
        </p:txBody>
      </p:sp>
      <p:sp>
        <p:nvSpPr>
          <p:cNvPr id="177" name="圆角矩形 99">
            <a:extLst>
              <a:ext uri="{FF2B5EF4-FFF2-40B4-BE49-F238E27FC236}">
                <a16:creationId xmlns:a16="http://schemas.microsoft.com/office/drawing/2014/main" id="{2BB8D7C1-8557-4343-FCF0-FF780F45049D}"/>
              </a:ext>
            </a:extLst>
          </p:cNvPr>
          <p:cNvSpPr/>
          <p:nvPr/>
        </p:nvSpPr>
        <p:spPr>
          <a:xfrm>
            <a:off x="6824662" y="2732827"/>
            <a:ext cx="774559" cy="667989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设备集成调度</a:t>
            </a:r>
          </a:p>
        </p:txBody>
      </p:sp>
      <p:sp>
        <p:nvSpPr>
          <p:cNvPr id="183" name="圆角矩形 99">
            <a:extLst>
              <a:ext uri="{FF2B5EF4-FFF2-40B4-BE49-F238E27FC236}">
                <a16:creationId xmlns:a16="http://schemas.microsoft.com/office/drawing/2014/main" id="{4D8A500E-43EC-051B-AF66-0F9EB06D5748}"/>
              </a:ext>
            </a:extLst>
          </p:cNvPr>
          <p:cNvSpPr/>
          <p:nvPr/>
        </p:nvSpPr>
        <p:spPr>
          <a:xfrm>
            <a:off x="4372886" y="1102556"/>
            <a:ext cx="522190" cy="667989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岸桥</a:t>
            </a:r>
            <a:r>
              <a:rPr lang="en-US" altLang="zh-CN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场桥分配</a:t>
            </a:r>
          </a:p>
        </p:txBody>
      </p:sp>
      <p:sp>
        <p:nvSpPr>
          <p:cNvPr id="185" name="圆角矩形 99">
            <a:extLst>
              <a:ext uri="{FF2B5EF4-FFF2-40B4-BE49-F238E27FC236}">
                <a16:creationId xmlns:a16="http://schemas.microsoft.com/office/drawing/2014/main" id="{AB1DF4C4-9719-906C-854C-CC93165D9454}"/>
              </a:ext>
            </a:extLst>
          </p:cNvPr>
          <p:cNvSpPr/>
          <p:nvPr/>
        </p:nvSpPr>
        <p:spPr>
          <a:xfrm>
            <a:off x="5519673" y="1102556"/>
            <a:ext cx="522190" cy="667989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生产工班计划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03E64D59-728E-8A49-1D42-D27C62A54031}"/>
              </a:ext>
            </a:extLst>
          </p:cNvPr>
          <p:cNvSpPr txBox="1"/>
          <p:nvPr/>
        </p:nvSpPr>
        <p:spPr>
          <a:xfrm>
            <a:off x="2300123" y="787089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进口船图</a:t>
            </a:r>
            <a:endParaRPr lang="en-US" altLang="zh-CN" sz="600" dirty="0"/>
          </a:p>
          <a:p>
            <a:r>
              <a:rPr lang="zh-CN" altLang="en-US" sz="600" dirty="0"/>
              <a:t>进口舱单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0ED29B66-65A8-EDDF-A843-DA1427F797A7}"/>
              </a:ext>
            </a:extLst>
          </p:cNvPr>
          <p:cNvSpPr txBox="1"/>
          <p:nvPr/>
        </p:nvSpPr>
        <p:spPr>
          <a:xfrm>
            <a:off x="3809700" y="134686"/>
            <a:ext cx="19559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卸船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&amp;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发箱作业数据流</a:t>
            </a:r>
          </a:p>
        </p:txBody>
      </p:sp>
      <p:cxnSp>
        <p:nvCxnSpPr>
          <p:cNvPr id="4" name="直接箭头连接符 3">
            <a:extLst>
              <a:ext uri="{FF2B5EF4-FFF2-40B4-BE49-F238E27FC236}">
                <a16:creationId xmlns:a16="http://schemas.microsoft.com/office/drawing/2014/main" id="{5A7A2B23-0C34-58C4-12BC-6D05C1C10598}"/>
              </a:ext>
            </a:extLst>
          </p:cNvPr>
          <p:cNvCxnSpPr>
            <a:cxnSpLocks/>
            <a:stCxn id="137" idx="3"/>
            <a:endCxn id="183" idx="1"/>
          </p:cNvCxnSpPr>
          <p:nvPr/>
        </p:nvCxnSpPr>
        <p:spPr>
          <a:xfrm flipV="1">
            <a:off x="3634317" y="1436551"/>
            <a:ext cx="738569" cy="41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圆角矩形 99">
            <a:extLst>
              <a:ext uri="{FF2B5EF4-FFF2-40B4-BE49-F238E27FC236}">
                <a16:creationId xmlns:a16="http://schemas.microsoft.com/office/drawing/2014/main" id="{03D7FFB9-E604-BAC4-C888-CEDB05DB0CF9}"/>
              </a:ext>
            </a:extLst>
          </p:cNvPr>
          <p:cNvSpPr/>
          <p:nvPr/>
        </p:nvSpPr>
        <p:spPr>
          <a:xfrm>
            <a:off x="3112126" y="1917180"/>
            <a:ext cx="522191" cy="667990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船舶配载</a:t>
            </a:r>
          </a:p>
        </p:txBody>
      </p:sp>
      <p:cxnSp>
        <p:nvCxnSpPr>
          <p:cNvPr id="21" name="连接符: 肘形 20">
            <a:extLst>
              <a:ext uri="{FF2B5EF4-FFF2-40B4-BE49-F238E27FC236}">
                <a16:creationId xmlns:a16="http://schemas.microsoft.com/office/drawing/2014/main" id="{CE8AC06F-5810-6B1E-6BBC-BA1905DB0E42}"/>
              </a:ext>
            </a:extLst>
          </p:cNvPr>
          <p:cNvCxnSpPr>
            <a:cxnSpLocks/>
            <a:endCxn id="137" idx="1"/>
          </p:cNvCxnSpPr>
          <p:nvPr/>
        </p:nvCxnSpPr>
        <p:spPr>
          <a:xfrm>
            <a:off x="2350765" y="748625"/>
            <a:ext cx="761361" cy="688341"/>
          </a:xfrm>
          <a:prstGeom prst="bentConnector3">
            <a:avLst>
              <a:gd name="adj1" fmla="val -42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连接符: 肘形 21">
            <a:extLst>
              <a:ext uri="{FF2B5EF4-FFF2-40B4-BE49-F238E27FC236}">
                <a16:creationId xmlns:a16="http://schemas.microsoft.com/office/drawing/2014/main" id="{C66EEAB7-5B2B-3A7D-8708-97CDBCA4C10F}"/>
              </a:ext>
            </a:extLst>
          </p:cNvPr>
          <p:cNvCxnSpPr>
            <a:cxnSpLocks/>
            <a:endCxn id="16" idx="1"/>
          </p:cNvCxnSpPr>
          <p:nvPr/>
        </p:nvCxnSpPr>
        <p:spPr>
          <a:xfrm rot="16200000" flipH="1">
            <a:off x="1983054" y="1122103"/>
            <a:ext cx="1502552" cy="755591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连接符: 肘形 26">
            <a:extLst>
              <a:ext uri="{FF2B5EF4-FFF2-40B4-BE49-F238E27FC236}">
                <a16:creationId xmlns:a16="http://schemas.microsoft.com/office/drawing/2014/main" id="{52054E5B-2489-5C63-5357-0D6030D58B6D}"/>
              </a:ext>
            </a:extLst>
          </p:cNvPr>
          <p:cNvCxnSpPr>
            <a:cxnSpLocks/>
            <a:stCxn id="16" idx="3"/>
            <a:endCxn id="183" idx="2"/>
          </p:cNvCxnSpPr>
          <p:nvPr/>
        </p:nvCxnSpPr>
        <p:spPr>
          <a:xfrm flipV="1">
            <a:off x="3634317" y="1770545"/>
            <a:ext cx="999664" cy="480630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8DCB7143-747C-CC98-B6AD-0CFCDC506DF1}"/>
              </a:ext>
            </a:extLst>
          </p:cNvPr>
          <p:cNvSpPr txBox="1"/>
          <p:nvPr/>
        </p:nvSpPr>
        <p:spPr>
          <a:xfrm>
            <a:off x="3614377" y="2080032"/>
            <a:ext cx="492443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卸船计划</a:t>
            </a:r>
          </a:p>
        </p:txBody>
      </p: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4E29DF99-70AB-D5BA-8EBA-15D8ABBD0C41}"/>
              </a:ext>
            </a:extLst>
          </p:cNvPr>
          <p:cNvCxnSpPr>
            <a:cxnSpLocks/>
            <a:stCxn id="16" idx="3"/>
            <a:endCxn id="185" idx="2"/>
          </p:cNvCxnSpPr>
          <p:nvPr/>
        </p:nvCxnSpPr>
        <p:spPr>
          <a:xfrm flipV="1">
            <a:off x="3634317" y="1770545"/>
            <a:ext cx="2146451" cy="480630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连接符: 肘形 35">
            <a:extLst>
              <a:ext uri="{FF2B5EF4-FFF2-40B4-BE49-F238E27FC236}">
                <a16:creationId xmlns:a16="http://schemas.microsoft.com/office/drawing/2014/main" id="{B28279DD-9757-5D78-1544-BF5E81B6D11C}"/>
              </a:ext>
            </a:extLst>
          </p:cNvPr>
          <p:cNvCxnSpPr>
            <a:cxnSpLocks/>
            <a:stCxn id="153" idx="3"/>
            <a:endCxn id="177" idx="0"/>
          </p:cNvCxnSpPr>
          <p:nvPr/>
        </p:nvCxnSpPr>
        <p:spPr>
          <a:xfrm>
            <a:off x="6296891" y="1837752"/>
            <a:ext cx="915051" cy="895075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文本框 135">
            <a:extLst>
              <a:ext uri="{FF2B5EF4-FFF2-40B4-BE49-F238E27FC236}">
                <a16:creationId xmlns:a16="http://schemas.microsoft.com/office/drawing/2014/main" id="{F3F7BDED-1429-528F-F188-A7087D7E3C82}"/>
              </a:ext>
            </a:extLst>
          </p:cNvPr>
          <p:cNvSpPr txBox="1"/>
          <p:nvPr/>
        </p:nvSpPr>
        <p:spPr>
          <a:xfrm>
            <a:off x="6775523" y="3460365"/>
            <a:ext cx="33855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任务</a:t>
            </a:r>
          </a:p>
        </p:txBody>
      </p:sp>
      <p:sp>
        <p:nvSpPr>
          <p:cNvPr id="144" name="文本框 143">
            <a:extLst>
              <a:ext uri="{FF2B5EF4-FFF2-40B4-BE49-F238E27FC236}">
                <a16:creationId xmlns:a16="http://schemas.microsoft.com/office/drawing/2014/main" id="{E3AA0F7F-17C8-DBAB-C519-F8791FB043F6}"/>
              </a:ext>
            </a:extLst>
          </p:cNvPr>
          <p:cNvSpPr txBox="1"/>
          <p:nvPr/>
        </p:nvSpPr>
        <p:spPr>
          <a:xfrm>
            <a:off x="3399682" y="4418774"/>
            <a:ext cx="646331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岸桥作业指令</a:t>
            </a:r>
          </a:p>
        </p:txBody>
      </p:sp>
      <p:cxnSp>
        <p:nvCxnSpPr>
          <p:cNvPr id="160" name="直接箭头连接符 159">
            <a:extLst>
              <a:ext uri="{FF2B5EF4-FFF2-40B4-BE49-F238E27FC236}">
                <a16:creationId xmlns:a16="http://schemas.microsoft.com/office/drawing/2014/main" id="{47522D1B-8853-17F9-5FC5-782BCF628D45}"/>
              </a:ext>
            </a:extLst>
          </p:cNvPr>
          <p:cNvCxnSpPr>
            <a:cxnSpLocks/>
            <a:stCxn id="140" idx="2"/>
          </p:cNvCxnSpPr>
          <p:nvPr/>
        </p:nvCxnSpPr>
        <p:spPr>
          <a:xfrm flipH="1">
            <a:off x="4537823" y="4311480"/>
            <a:ext cx="1" cy="4763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文本框 163">
            <a:extLst>
              <a:ext uri="{FF2B5EF4-FFF2-40B4-BE49-F238E27FC236}">
                <a16:creationId xmlns:a16="http://schemas.microsoft.com/office/drawing/2014/main" id="{AE19098C-0768-98BB-3B30-996603BBD57D}"/>
              </a:ext>
            </a:extLst>
          </p:cNvPr>
          <p:cNvSpPr txBox="1"/>
          <p:nvPr/>
        </p:nvSpPr>
        <p:spPr>
          <a:xfrm>
            <a:off x="4489004" y="4418774"/>
            <a:ext cx="800219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水平运输作业指令</a:t>
            </a:r>
          </a:p>
        </p:txBody>
      </p:sp>
      <p:cxnSp>
        <p:nvCxnSpPr>
          <p:cNvPr id="172" name="连接符: 肘形 171">
            <a:extLst>
              <a:ext uri="{FF2B5EF4-FFF2-40B4-BE49-F238E27FC236}">
                <a16:creationId xmlns:a16="http://schemas.microsoft.com/office/drawing/2014/main" id="{E8B9C53B-0735-3447-A0ED-DAF50E48205B}"/>
              </a:ext>
            </a:extLst>
          </p:cNvPr>
          <p:cNvCxnSpPr>
            <a:cxnSpLocks/>
          </p:cNvCxnSpPr>
          <p:nvPr/>
        </p:nvCxnSpPr>
        <p:spPr>
          <a:xfrm rot="10800000" flipV="1">
            <a:off x="6286768" y="3401645"/>
            <a:ext cx="774038" cy="398109"/>
          </a:xfrm>
          <a:prstGeom prst="bentConnector3">
            <a:avLst>
              <a:gd name="adj1" fmla="val 77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连接符: 肘形 175">
            <a:extLst>
              <a:ext uri="{FF2B5EF4-FFF2-40B4-BE49-F238E27FC236}">
                <a16:creationId xmlns:a16="http://schemas.microsoft.com/office/drawing/2014/main" id="{4040B917-8C38-A83F-1A8A-7E8948B9873F}"/>
              </a:ext>
            </a:extLst>
          </p:cNvPr>
          <p:cNvCxnSpPr>
            <a:cxnSpLocks/>
            <a:endCxn id="59" idx="1"/>
          </p:cNvCxnSpPr>
          <p:nvPr/>
        </p:nvCxnSpPr>
        <p:spPr>
          <a:xfrm rot="5400000" flipH="1" flipV="1">
            <a:off x="2187127" y="4131767"/>
            <a:ext cx="819716" cy="492446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直接箭头连接符 194">
            <a:extLst>
              <a:ext uri="{FF2B5EF4-FFF2-40B4-BE49-F238E27FC236}">
                <a16:creationId xmlns:a16="http://schemas.microsoft.com/office/drawing/2014/main" id="{BD387270-5239-F784-C364-AAE6B984CFEC}"/>
              </a:ext>
            </a:extLst>
          </p:cNvPr>
          <p:cNvCxnSpPr>
            <a:cxnSpLocks/>
            <a:stCxn id="139" idx="2"/>
          </p:cNvCxnSpPr>
          <p:nvPr/>
        </p:nvCxnSpPr>
        <p:spPr>
          <a:xfrm>
            <a:off x="3434430" y="4311480"/>
            <a:ext cx="0" cy="47636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直接箭头连接符 197">
            <a:extLst>
              <a:ext uri="{FF2B5EF4-FFF2-40B4-BE49-F238E27FC236}">
                <a16:creationId xmlns:a16="http://schemas.microsoft.com/office/drawing/2014/main" id="{0AFD7010-F8BD-57BD-66FB-71394B634F71}"/>
              </a:ext>
            </a:extLst>
          </p:cNvPr>
          <p:cNvCxnSpPr>
            <a:cxnSpLocks/>
            <a:stCxn id="141" idx="2"/>
          </p:cNvCxnSpPr>
          <p:nvPr/>
        </p:nvCxnSpPr>
        <p:spPr>
          <a:xfrm flipH="1">
            <a:off x="5641217" y="4311480"/>
            <a:ext cx="1" cy="47636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1" name="文本框 200">
            <a:extLst>
              <a:ext uri="{FF2B5EF4-FFF2-40B4-BE49-F238E27FC236}">
                <a16:creationId xmlns:a16="http://schemas.microsoft.com/office/drawing/2014/main" id="{6C1A63FE-EF34-6B8E-C7FB-F7FEB1D6734C}"/>
              </a:ext>
            </a:extLst>
          </p:cNvPr>
          <p:cNvSpPr txBox="1"/>
          <p:nvPr/>
        </p:nvSpPr>
        <p:spPr>
          <a:xfrm>
            <a:off x="5576350" y="4412881"/>
            <a:ext cx="646331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场桥作业指令</a:t>
            </a:r>
          </a:p>
        </p:txBody>
      </p:sp>
      <p:cxnSp>
        <p:nvCxnSpPr>
          <p:cNvPr id="35" name="连接符: 肘形 34">
            <a:extLst>
              <a:ext uri="{FF2B5EF4-FFF2-40B4-BE49-F238E27FC236}">
                <a16:creationId xmlns:a16="http://schemas.microsoft.com/office/drawing/2014/main" id="{13346CF9-0452-7121-A951-11E1B3F7B23A}"/>
              </a:ext>
            </a:extLst>
          </p:cNvPr>
          <p:cNvCxnSpPr>
            <a:cxnSpLocks/>
          </p:cNvCxnSpPr>
          <p:nvPr/>
        </p:nvCxnSpPr>
        <p:spPr>
          <a:xfrm flipV="1">
            <a:off x="6296891" y="3407704"/>
            <a:ext cx="1111481" cy="895075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B487792C-636B-3E91-AA96-371E88605A9F}"/>
              </a:ext>
            </a:extLst>
          </p:cNvPr>
          <p:cNvSpPr txBox="1"/>
          <p:nvPr/>
        </p:nvSpPr>
        <p:spPr>
          <a:xfrm>
            <a:off x="6286768" y="4037766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任务反馈</a:t>
            </a:r>
            <a:endParaRPr lang="en-US" altLang="zh-CN" sz="600" dirty="0"/>
          </a:p>
          <a:p>
            <a:r>
              <a:rPr lang="zh-CN" altLang="en-US" sz="600" dirty="0"/>
              <a:t>设备状态</a:t>
            </a: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7181CD4E-FC0F-5FE2-60C3-EAE44368A3AD}"/>
              </a:ext>
            </a:extLst>
          </p:cNvPr>
          <p:cNvSpPr txBox="1"/>
          <p:nvPr/>
        </p:nvSpPr>
        <p:spPr>
          <a:xfrm>
            <a:off x="2362880" y="3692380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指令反馈</a:t>
            </a:r>
            <a:endParaRPr lang="en-US" altLang="zh-CN" sz="600" dirty="0"/>
          </a:p>
          <a:p>
            <a:r>
              <a:rPr lang="zh-CN" altLang="en-US" sz="600" dirty="0"/>
              <a:t>设备状态</a:t>
            </a:r>
          </a:p>
        </p:txBody>
      </p:sp>
      <p:sp>
        <p:nvSpPr>
          <p:cNvPr id="59" name="圆角矩形 99">
            <a:extLst>
              <a:ext uri="{FF2B5EF4-FFF2-40B4-BE49-F238E27FC236}">
                <a16:creationId xmlns:a16="http://schemas.microsoft.com/office/drawing/2014/main" id="{F8AAF7DF-111B-CE36-A772-634896145F92}"/>
              </a:ext>
            </a:extLst>
          </p:cNvPr>
          <p:cNvSpPr/>
          <p:nvPr/>
        </p:nvSpPr>
        <p:spPr>
          <a:xfrm>
            <a:off x="2843208" y="3547356"/>
            <a:ext cx="3453683" cy="841552"/>
          </a:xfrm>
          <a:prstGeom prst="rect">
            <a:avLst/>
          </a:prstGeom>
          <a:noFill/>
          <a:ln w="3175">
            <a:prstDash val="dash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3" name="圆角矩形 99">
            <a:extLst>
              <a:ext uri="{FF2B5EF4-FFF2-40B4-BE49-F238E27FC236}">
                <a16:creationId xmlns:a16="http://schemas.microsoft.com/office/drawing/2014/main" id="{B2326C58-36A8-68F9-4942-043D117CA223}"/>
              </a:ext>
            </a:extLst>
          </p:cNvPr>
          <p:cNvSpPr/>
          <p:nvPr/>
        </p:nvSpPr>
        <p:spPr>
          <a:xfrm>
            <a:off x="2843208" y="938924"/>
            <a:ext cx="3453683" cy="1797655"/>
          </a:xfrm>
          <a:prstGeom prst="rect">
            <a:avLst/>
          </a:prstGeom>
          <a:noFill/>
          <a:ln w="3175">
            <a:prstDash val="dash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63" name="直接箭头连接符 162">
            <a:extLst>
              <a:ext uri="{FF2B5EF4-FFF2-40B4-BE49-F238E27FC236}">
                <a16:creationId xmlns:a16="http://schemas.microsoft.com/office/drawing/2014/main" id="{73EF7F85-46CB-B9A3-5D69-7F9DD404A6B6}"/>
              </a:ext>
            </a:extLst>
          </p:cNvPr>
          <p:cNvCxnSpPr>
            <a:cxnSpLocks/>
            <a:stCxn id="183" idx="3"/>
            <a:endCxn id="185" idx="1"/>
          </p:cNvCxnSpPr>
          <p:nvPr/>
        </p:nvCxnSpPr>
        <p:spPr>
          <a:xfrm>
            <a:off x="4895076" y="1436551"/>
            <a:ext cx="62459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文本框 170">
            <a:extLst>
              <a:ext uri="{FF2B5EF4-FFF2-40B4-BE49-F238E27FC236}">
                <a16:creationId xmlns:a16="http://schemas.microsoft.com/office/drawing/2014/main" id="{7006D01E-8312-4525-3FFC-F274A2EF6BEA}"/>
              </a:ext>
            </a:extLst>
          </p:cNvPr>
          <p:cNvSpPr txBox="1"/>
          <p:nvPr/>
        </p:nvSpPr>
        <p:spPr>
          <a:xfrm>
            <a:off x="6316831" y="1674090"/>
            <a:ext cx="33855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计划</a:t>
            </a:r>
          </a:p>
        </p:txBody>
      </p:sp>
      <p:cxnSp>
        <p:nvCxnSpPr>
          <p:cNvPr id="216" name="直接箭头连接符 215">
            <a:extLst>
              <a:ext uri="{FF2B5EF4-FFF2-40B4-BE49-F238E27FC236}">
                <a16:creationId xmlns:a16="http://schemas.microsoft.com/office/drawing/2014/main" id="{5D34B908-B3F6-119D-EA55-D00AF97B2D45}"/>
              </a:ext>
            </a:extLst>
          </p:cNvPr>
          <p:cNvCxnSpPr>
            <a:cxnSpLocks/>
            <a:stCxn id="139" idx="3"/>
            <a:endCxn id="140" idx="1"/>
          </p:cNvCxnSpPr>
          <p:nvPr/>
        </p:nvCxnSpPr>
        <p:spPr>
          <a:xfrm>
            <a:off x="3695525" y="3977071"/>
            <a:ext cx="58120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直接箭头连接符 218">
            <a:extLst>
              <a:ext uri="{FF2B5EF4-FFF2-40B4-BE49-F238E27FC236}">
                <a16:creationId xmlns:a16="http://schemas.microsoft.com/office/drawing/2014/main" id="{D9F11FEF-B76F-07F8-4B90-EFD11804F3B1}"/>
              </a:ext>
            </a:extLst>
          </p:cNvPr>
          <p:cNvCxnSpPr>
            <a:cxnSpLocks/>
            <a:stCxn id="141" idx="1"/>
            <a:endCxn id="140" idx="3"/>
          </p:cNvCxnSpPr>
          <p:nvPr/>
        </p:nvCxnSpPr>
        <p:spPr>
          <a:xfrm flipH="1">
            <a:off x="4798919" y="3977071"/>
            <a:ext cx="58120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4" name="文本框 223">
            <a:extLst>
              <a:ext uri="{FF2B5EF4-FFF2-40B4-BE49-F238E27FC236}">
                <a16:creationId xmlns:a16="http://schemas.microsoft.com/office/drawing/2014/main" id="{C4ECDCF1-DE8C-2D9A-A4B3-69E803FBAA52}"/>
              </a:ext>
            </a:extLst>
          </p:cNvPr>
          <p:cNvSpPr txBox="1"/>
          <p:nvPr/>
        </p:nvSpPr>
        <p:spPr>
          <a:xfrm>
            <a:off x="3782277" y="3762909"/>
            <a:ext cx="41549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子任务</a:t>
            </a:r>
          </a:p>
        </p:txBody>
      </p:sp>
      <p:sp>
        <p:nvSpPr>
          <p:cNvPr id="225" name="文本框 224">
            <a:extLst>
              <a:ext uri="{FF2B5EF4-FFF2-40B4-BE49-F238E27FC236}">
                <a16:creationId xmlns:a16="http://schemas.microsoft.com/office/drawing/2014/main" id="{00A0D843-9AF4-B0D9-83A7-81B989CA159F}"/>
              </a:ext>
            </a:extLst>
          </p:cNvPr>
          <p:cNvSpPr txBox="1"/>
          <p:nvPr/>
        </p:nvSpPr>
        <p:spPr>
          <a:xfrm>
            <a:off x="4924658" y="3777472"/>
            <a:ext cx="41549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子任务</a:t>
            </a:r>
          </a:p>
        </p:txBody>
      </p:sp>
      <p:cxnSp>
        <p:nvCxnSpPr>
          <p:cNvPr id="238" name="连接符: 肘形 237">
            <a:extLst>
              <a:ext uri="{FF2B5EF4-FFF2-40B4-BE49-F238E27FC236}">
                <a16:creationId xmlns:a16="http://schemas.microsoft.com/office/drawing/2014/main" id="{2BACB0F4-9013-BBF9-C805-D9A9751B1740}"/>
              </a:ext>
            </a:extLst>
          </p:cNvPr>
          <p:cNvCxnSpPr>
            <a:cxnSpLocks/>
            <a:stCxn id="177" idx="1"/>
            <a:endCxn id="153" idx="2"/>
          </p:cNvCxnSpPr>
          <p:nvPr/>
        </p:nvCxnSpPr>
        <p:spPr>
          <a:xfrm rot="10800000">
            <a:off x="4570050" y="2736580"/>
            <a:ext cx="2254612" cy="33024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5" name="文本框 294">
            <a:extLst>
              <a:ext uri="{FF2B5EF4-FFF2-40B4-BE49-F238E27FC236}">
                <a16:creationId xmlns:a16="http://schemas.microsoft.com/office/drawing/2014/main" id="{030B203C-1BA8-136C-78D8-F4AE73C9163A}"/>
              </a:ext>
            </a:extLst>
          </p:cNvPr>
          <p:cNvSpPr txBox="1"/>
          <p:nvPr/>
        </p:nvSpPr>
        <p:spPr>
          <a:xfrm>
            <a:off x="6360188" y="2882112"/>
            <a:ext cx="492443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计划反馈</a:t>
            </a:r>
          </a:p>
        </p:txBody>
      </p:sp>
      <p:cxnSp>
        <p:nvCxnSpPr>
          <p:cNvPr id="302" name="直接箭头连接符 301">
            <a:extLst>
              <a:ext uri="{FF2B5EF4-FFF2-40B4-BE49-F238E27FC236}">
                <a16:creationId xmlns:a16="http://schemas.microsoft.com/office/drawing/2014/main" id="{FAEFCB2C-B7C4-F3E1-CCDF-890C69F0DBE8}"/>
              </a:ext>
            </a:extLst>
          </p:cNvPr>
          <p:cNvCxnSpPr>
            <a:cxnSpLocks/>
            <a:endCxn id="137" idx="0"/>
          </p:cNvCxnSpPr>
          <p:nvPr/>
        </p:nvCxnSpPr>
        <p:spPr>
          <a:xfrm>
            <a:off x="3373222" y="748622"/>
            <a:ext cx="0" cy="3539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文本框 304">
            <a:extLst>
              <a:ext uri="{FF2B5EF4-FFF2-40B4-BE49-F238E27FC236}">
                <a16:creationId xmlns:a16="http://schemas.microsoft.com/office/drawing/2014/main" id="{EB5BCEBB-3B84-6EDE-ECE6-E1A8EF3B8458}"/>
              </a:ext>
            </a:extLst>
          </p:cNvPr>
          <p:cNvSpPr txBox="1"/>
          <p:nvPr/>
        </p:nvSpPr>
        <p:spPr>
          <a:xfrm>
            <a:off x="3322738" y="779511"/>
            <a:ext cx="7232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进口箱提箱计划</a:t>
            </a:r>
            <a:endParaRPr lang="en-US" altLang="zh-CN" sz="600" dirty="0"/>
          </a:p>
          <a:p>
            <a:r>
              <a:rPr lang="zh-CN" altLang="en-US" sz="600" dirty="0"/>
              <a:t>船舶计划</a:t>
            </a:r>
            <a:endParaRPr lang="en-US" altLang="zh-CN" sz="600" dirty="0"/>
          </a:p>
        </p:txBody>
      </p:sp>
      <p:cxnSp>
        <p:nvCxnSpPr>
          <p:cNvPr id="308" name="直接箭头连接符 307">
            <a:extLst>
              <a:ext uri="{FF2B5EF4-FFF2-40B4-BE49-F238E27FC236}">
                <a16:creationId xmlns:a16="http://schemas.microsoft.com/office/drawing/2014/main" id="{2BDEE20D-2DE9-6295-8E2A-044585BFCDA8}"/>
              </a:ext>
            </a:extLst>
          </p:cNvPr>
          <p:cNvCxnSpPr>
            <a:cxnSpLocks/>
            <a:endCxn id="183" idx="0"/>
          </p:cNvCxnSpPr>
          <p:nvPr/>
        </p:nvCxnSpPr>
        <p:spPr>
          <a:xfrm>
            <a:off x="4633981" y="748622"/>
            <a:ext cx="0" cy="3539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3" name="文本框 312">
            <a:extLst>
              <a:ext uri="{FF2B5EF4-FFF2-40B4-BE49-F238E27FC236}">
                <a16:creationId xmlns:a16="http://schemas.microsoft.com/office/drawing/2014/main" id="{A81C70DC-67C6-1135-AFD8-6D8142B87F59}"/>
              </a:ext>
            </a:extLst>
          </p:cNvPr>
          <p:cNvSpPr txBox="1"/>
          <p:nvPr/>
        </p:nvSpPr>
        <p:spPr>
          <a:xfrm>
            <a:off x="4570049" y="771313"/>
            <a:ext cx="646331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闸口提箱进场</a:t>
            </a:r>
            <a:endParaRPr lang="en-US" altLang="zh-CN" sz="600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FAB17429-BE7F-0443-8B58-69E1DBFC08AD}"/>
              </a:ext>
            </a:extLst>
          </p:cNvPr>
          <p:cNvSpPr txBox="1"/>
          <p:nvPr/>
        </p:nvSpPr>
        <p:spPr>
          <a:xfrm>
            <a:off x="3606711" y="1092556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泊位计划</a:t>
            </a:r>
            <a:endParaRPr lang="en-US" altLang="zh-CN" sz="600" dirty="0"/>
          </a:p>
          <a:p>
            <a:r>
              <a:rPr lang="zh-CN" altLang="en-US" sz="600" dirty="0"/>
              <a:t>进口箱堆存计划</a:t>
            </a:r>
            <a:endParaRPr lang="en-US" altLang="zh-CN" sz="600" dirty="0"/>
          </a:p>
          <a:p>
            <a:r>
              <a:rPr lang="zh-CN" altLang="en-US" sz="600" dirty="0"/>
              <a:t>箱区贝位图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68AEA7B-F781-0FDE-3846-2C1CED649198}"/>
              </a:ext>
            </a:extLst>
          </p:cNvPr>
          <p:cNvSpPr txBox="1"/>
          <p:nvPr/>
        </p:nvSpPr>
        <p:spPr>
          <a:xfrm>
            <a:off x="4889113" y="1253280"/>
            <a:ext cx="569387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作业路计划</a:t>
            </a:r>
          </a:p>
        </p:txBody>
      </p:sp>
    </p:spTree>
    <p:extLst>
      <p:ext uri="{BB962C8B-B14F-4D97-AF65-F5344CB8AC3E}">
        <p14:creationId xmlns:p14="http://schemas.microsoft.com/office/powerpoint/2010/main" val="700656293"/>
      </p:ext>
    </p:extLst>
  </p:cSld>
  <p:clrMapOvr>
    <a:masterClrMapping/>
  </p:clrMapOvr>
  <p:transition spd="slow">
    <p:split orient="vert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圆角矩形 99">
            <a:extLst>
              <a:ext uri="{FF2B5EF4-FFF2-40B4-BE49-F238E27FC236}">
                <a16:creationId xmlns:a16="http://schemas.microsoft.com/office/drawing/2014/main" id="{F551D6D3-1D22-DDCC-E4AF-A5D7C97A6989}"/>
              </a:ext>
            </a:extLst>
          </p:cNvPr>
          <p:cNvSpPr/>
          <p:nvPr/>
        </p:nvSpPr>
        <p:spPr>
          <a:xfrm>
            <a:off x="3112126" y="1102556"/>
            <a:ext cx="522191" cy="668819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泊位</a:t>
            </a:r>
            <a:r>
              <a:rPr lang="en-US" altLang="zh-CN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箱区策划</a:t>
            </a:r>
          </a:p>
        </p:txBody>
      </p:sp>
      <p:sp>
        <p:nvSpPr>
          <p:cNvPr id="139" name="圆角矩形 99">
            <a:extLst>
              <a:ext uri="{FF2B5EF4-FFF2-40B4-BE49-F238E27FC236}">
                <a16:creationId xmlns:a16="http://schemas.microsoft.com/office/drawing/2014/main" id="{84D32B4C-27E0-80FD-953F-9884F44CE62C}"/>
              </a:ext>
            </a:extLst>
          </p:cNvPr>
          <p:cNvSpPr/>
          <p:nvPr/>
        </p:nvSpPr>
        <p:spPr>
          <a:xfrm>
            <a:off x="3173334" y="3642661"/>
            <a:ext cx="522191" cy="668819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岸桥调度</a:t>
            </a:r>
          </a:p>
        </p:txBody>
      </p:sp>
      <p:sp>
        <p:nvSpPr>
          <p:cNvPr id="140" name="圆角矩形 99">
            <a:extLst>
              <a:ext uri="{FF2B5EF4-FFF2-40B4-BE49-F238E27FC236}">
                <a16:creationId xmlns:a16="http://schemas.microsoft.com/office/drawing/2014/main" id="{090E9D88-C755-FA2B-13AB-3673E19F3D11}"/>
              </a:ext>
            </a:extLst>
          </p:cNvPr>
          <p:cNvSpPr/>
          <p:nvPr/>
        </p:nvSpPr>
        <p:spPr>
          <a:xfrm>
            <a:off x="4276728" y="3642661"/>
            <a:ext cx="522191" cy="668819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水平运输调度</a:t>
            </a:r>
          </a:p>
        </p:txBody>
      </p:sp>
      <p:sp>
        <p:nvSpPr>
          <p:cNvPr id="141" name="圆角矩形 99">
            <a:extLst>
              <a:ext uri="{FF2B5EF4-FFF2-40B4-BE49-F238E27FC236}">
                <a16:creationId xmlns:a16="http://schemas.microsoft.com/office/drawing/2014/main" id="{2C930D1C-CA52-3AF7-EAF8-22E56CFAFA04}"/>
              </a:ext>
            </a:extLst>
          </p:cNvPr>
          <p:cNvSpPr/>
          <p:nvPr/>
        </p:nvSpPr>
        <p:spPr>
          <a:xfrm>
            <a:off x="5380122" y="3642661"/>
            <a:ext cx="522191" cy="668819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场桥调度</a:t>
            </a:r>
          </a:p>
        </p:txBody>
      </p:sp>
      <p:sp>
        <p:nvSpPr>
          <p:cNvPr id="142" name="圆角矩形 99">
            <a:extLst>
              <a:ext uri="{FF2B5EF4-FFF2-40B4-BE49-F238E27FC236}">
                <a16:creationId xmlns:a16="http://schemas.microsoft.com/office/drawing/2014/main" id="{745D832E-57FA-844E-BBD1-37C351D46020}"/>
              </a:ext>
            </a:extLst>
          </p:cNvPr>
          <p:cNvSpPr/>
          <p:nvPr/>
        </p:nvSpPr>
        <p:spPr>
          <a:xfrm>
            <a:off x="1955756" y="4787847"/>
            <a:ext cx="5643466" cy="270000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设备控制总线</a:t>
            </a:r>
            <a:endParaRPr lang="en-US" altLang="zh-CN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5" name="圆角矩形 99">
            <a:extLst>
              <a:ext uri="{FF2B5EF4-FFF2-40B4-BE49-F238E27FC236}">
                <a16:creationId xmlns:a16="http://schemas.microsoft.com/office/drawing/2014/main" id="{E602FDC0-D2BA-C539-6127-C5B0BE44D5F5}"/>
              </a:ext>
            </a:extLst>
          </p:cNvPr>
          <p:cNvSpPr/>
          <p:nvPr/>
        </p:nvSpPr>
        <p:spPr>
          <a:xfrm>
            <a:off x="1955756" y="478624"/>
            <a:ext cx="5643466" cy="270000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生产调度总线</a:t>
            </a:r>
          </a:p>
        </p:txBody>
      </p:sp>
      <p:sp>
        <p:nvSpPr>
          <p:cNvPr id="177" name="圆角矩形 99">
            <a:extLst>
              <a:ext uri="{FF2B5EF4-FFF2-40B4-BE49-F238E27FC236}">
                <a16:creationId xmlns:a16="http://schemas.microsoft.com/office/drawing/2014/main" id="{2BB8D7C1-8557-4343-FCF0-FF780F45049D}"/>
              </a:ext>
            </a:extLst>
          </p:cNvPr>
          <p:cNvSpPr/>
          <p:nvPr/>
        </p:nvSpPr>
        <p:spPr>
          <a:xfrm>
            <a:off x="6824662" y="2732827"/>
            <a:ext cx="774559" cy="667989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设备集成调度</a:t>
            </a:r>
          </a:p>
        </p:txBody>
      </p:sp>
      <p:sp>
        <p:nvSpPr>
          <p:cNvPr id="183" name="圆角矩形 99">
            <a:extLst>
              <a:ext uri="{FF2B5EF4-FFF2-40B4-BE49-F238E27FC236}">
                <a16:creationId xmlns:a16="http://schemas.microsoft.com/office/drawing/2014/main" id="{4D8A500E-43EC-051B-AF66-0F9EB06D5748}"/>
              </a:ext>
            </a:extLst>
          </p:cNvPr>
          <p:cNvSpPr/>
          <p:nvPr/>
        </p:nvSpPr>
        <p:spPr>
          <a:xfrm>
            <a:off x="4372886" y="1102556"/>
            <a:ext cx="522190" cy="667989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岸桥</a:t>
            </a:r>
            <a:r>
              <a:rPr lang="en-US" altLang="zh-CN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场桥分配</a:t>
            </a:r>
          </a:p>
        </p:txBody>
      </p:sp>
      <p:sp>
        <p:nvSpPr>
          <p:cNvPr id="185" name="圆角矩形 99">
            <a:extLst>
              <a:ext uri="{FF2B5EF4-FFF2-40B4-BE49-F238E27FC236}">
                <a16:creationId xmlns:a16="http://schemas.microsoft.com/office/drawing/2014/main" id="{AB1DF4C4-9719-906C-854C-CC93165D9454}"/>
              </a:ext>
            </a:extLst>
          </p:cNvPr>
          <p:cNvSpPr/>
          <p:nvPr/>
        </p:nvSpPr>
        <p:spPr>
          <a:xfrm>
            <a:off x="5519673" y="1102556"/>
            <a:ext cx="522190" cy="667989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生产工班计划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0ED29B66-65A8-EDDF-A843-DA1427F797A7}"/>
              </a:ext>
            </a:extLst>
          </p:cNvPr>
          <p:cNvSpPr txBox="1"/>
          <p:nvPr/>
        </p:nvSpPr>
        <p:spPr>
          <a:xfrm>
            <a:off x="3809700" y="126072"/>
            <a:ext cx="19559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装船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&amp;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收箱作业数据流</a:t>
            </a:r>
          </a:p>
        </p:txBody>
      </p:sp>
      <p:cxnSp>
        <p:nvCxnSpPr>
          <p:cNvPr id="4" name="直接箭头连接符 3">
            <a:extLst>
              <a:ext uri="{FF2B5EF4-FFF2-40B4-BE49-F238E27FC236}">
                <a16:creationId xmlns:a16="http://schemas.microsoft.com/office/drawing/2014/main" id="{5A7A2B23-0C34-58C4-12BC-6D05C1C10598}"/>
              </a:ext>
            </a:extLst>
          </p:cNvPr>
          <p:cNvCxnSpPr>
            <a:cxnSpLocks/>
            <a:stCxn id="137" idx="3"/>
            <a:endCxn id="183" idx="1"/>
          </p:cNvCxnSpPr>
          <p:nvPr/>
        </p:nvCxnSpPr>
        <p:spPr>
          <a:xfrm flipV="1">
            <a:off x="3634317" y="1436551"/>
            <a:ext cx="738569" cy="41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圆角矩形 99">
            <a:extLst>
              <a:ext uri="{FF2B5EF4-FFF2-40B4-BE49-F238E27FC236}">
                <a16:creationId xmlns:a16="http://schemas.microsoft.com/office/drawing/2014/main" id="{03D7FFB9-E604-BAC4-C888-CEDB05DB0CF9}"/>
              </a:ext>
            </a:extLst>
          </p:cNvPr>
          <p:cNvSpPr/>
          <p:nvPr/>
        </p:nvSpPr>
        <p:spPr>
          <a:xfrm>
            <a:off x="3112126" y="1917180"/>
            <a:ext cx="522191" cy="667990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rtlCol="0" anchor="ctr"/>
          <a:lstStyle/>
          <a:p>
            <a:pPr algn="ctr"/>
            <a:r>
              <a:rPr lang="zh-CN" altLang="en-US" sz="600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船舶配载</a:t>
            </a:r>
          </a:p>
        </p:txBody>
      </p:sp>
      <p:cxnSp>
        <p:nvCxnSpPr>
          <p:cNvPr id="21" name="连接符: 肘形 20">
            <a:extLst>
              <a:ext uri="{FF2B5EF4-FFF2-40B4-BE49-F238E27FC236}">
                <a16:creationId xmlns:a16="http://schemas.microsoft.com/office/drawing/2014/main" id="{CE8AC06F-5810-6B1E-6BBC-BA1905DB0E42}"/>
              </a:ext>
            </a:extLst>
          </p:cNvPr>
          <p:cNvCxnSpPr>
            <a:cxnSpLocks/>
            <a:endCxn id="137" idx="1"/>
          </p:cNvCxnSpPr>
          <p:nvPr/>
        </p:nvCxnSpPr>
        <p:spPr>
          <a:xfrm>
            <a:off x="2350765" y="748625"/>
            <a:ext cx="761361" cy="688341"/>
          </a:xfrm>
          <a:prstGeom prst="bentConnector3">
            <a:avLst>
              <a:gd name="adj1" fmla="val -42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连接符: 肘形 21">
            <a:extLst>
              <a:ext uri="{FF2B5EF4-FFF2-40B4-BE49-F238E27FC236}">
                <a16:creationId xmlns:a16="http://schemas.microsoft.com/office/drawing/2014/main" id="{C66EEAB7-5B2B-3A7D-8708-97CDBCA4C10F}"/>
              </a:ext>
            </a:extLst>
          </p:cNvPr>
          <p:cNvCxnSpPr>
            <a:cxnSpLocks/>
            <a:endCxn id="16" idx="1"/>
          </p:cNvCxnSpPr>
          <p:nvPr/>
        </p:nvCxnSpPr>
        <p:spPr>
          <a:xfrm rot="16200000" flipH="1">
            <a:off x="1983054" y="1122103"/>
            <a:ext cx="1502552" cy="755591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连接符: 肘形 26">
            <a:extLst>
              <a:ext uri="{FF2B5EF4-FFF2-40B4-BE49-F238E27FC236}">
                <a16:creationId xmlns:a16="http://schemas.microsoft.com/office/drawing/2014/main" id="{52054E5B-2489-5C63-5357-0D6030D58B6D}"/>
              </a:ext>
            </a:extLst>
          </p:cNvPr>
          <p:cNvCxnSpPr>
            <a:cxnSpLocks/>
            <a:stCxn id="16" idx="3"/>
            <a:endCxn id="183" idx="2"/>
          </p:cNvCxnSpPr>
          <p:nvPr/>
        </p:nvCxnSpPr>
        <p:spPr>
          <a:xfrm flipV="1">
            <a:off x="3634317" y="1770545"/>
            <a:ext cx="999664" cy="480630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4E29DF99-70AB-D5BA-8EBA-15D8ABBD0C41}"/>
              </a:ext>
            </a:extLst>
          </p:cNvPr>
          <p:cNvCxnSpPr>
            <a:cxnSpLocks/>
            <a:stCxn id="16" idx="3"/>
            <a:endCxn id="185" idx="2"/>
          </p:cNvCxnSpPr>
          <p:nvPr/>
        </p:nvCxnSpPr>
        <p:spPr>
          <a:xfrm flipV="1">
            <a:off x="3634317" y="1770545"/>
            <a:ext cx="2146451" cy="480630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连接符: 肘形 35">
            <a:extLst>
              <a:ext uri="{FF2B5EF4-FFF2-40B4-BE49-F238E27FC236}">
                <a16:creationId xmlns:a16="http://schemas.microsoft.com/office/drawing/2014/main" id="{B28279DD-9757-5D78-1544-BF5E81B6D11C}"/>
              </a:ext>
            </a:extLst>
          </p:cNvPr>
          <p:cNvCxnSpPr>
            <a:cxnSpLocks/>
            <a:stCxn id="153" idx="3"/>
            <a:endCxn id="177" idx="0"/>
          </p:cNvCxnSpPr>
          <p:nvPr/>
        </p:nvCxnSpPr>
        <p:spPr>
          <a:xfrm>
            <a:off x="6296891" y="1837752"/>
            <a:ext cx="915051" cy="895075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文本框 134">
            <a:extLst>
              <a:ext uri="{FF2B5EF4-FFF2-40B4-BE49-F238E27FC236}">
                <a16:creationId xmlns:a16="http://schemas.microsoft.com/office/drawing/2014/main" id="{09766EF1-A3CA-5B55-A7F9-2450BAF4B9F5}"/>
              </a:ext>
            </a:extLst>
          </p:cNvPr>
          <p:cNvSpPr txBox="1"/>
          <p:nvPr/>
        </p:nvSpPr>
        <p:spPr>
          <a:xfrm>
            <a:off x="4889113" y="1253280"/>
            <a:ext cx="569387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作业路计划</a:t>
            </a:r>
          </a:p>
        </p:txBody>
      </p:sp>
      <p:sp>
        <p:nvSpPr>
          <p:cNvPr id="136" name="文本框 135">
            <a:extLst>
              <a:ext uri="{FF2B5EF4-FFF2-40B4-BE49-F238E27FC236}">
                <a16:creationId xmlns:a16="http://schemas.microsoft.com/office/drawing/2014/main" id="{F3F7BDED-1429-528F-F188-A7087D7E3C82}"/>
              </a:ext>
            </a:extLst>
          </p:cNvPr>
          <p:cNvSpPr txBox="1"/>
          <p:nvPr/>
        </p:nvSpPr>
        <p:spPr>
          <a:xfrm>
            <a:off x="6775523" y="3460365"/>
            <a:ext cx="33855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任务</a:t>
            </a:r>
          </a:p>
        </p:txBody>
      </p:sp>
      <p:sp>
        <p:nvSpPr>
          <p:cNvPr id="144" name="文本框 143">
            <a:extLst>
              <a:ext uri="{FF2B5EF4-FFF2-40B4-BE49-F238E27FC236}">
                <a16:creationId xmlns:a16="http://schemas.microsoft.com/office/drawing/2014/main" id="{E3AA0F7F-17C8-DBAB-C519-F8791FB043F6}"/>
              </a:ext>
            </a:extLst>
          </p:cNvPr>
          <p:cNvSpPr txBox="1"/>
          <p:nvPr/>
        </p:nvSpPr>
        <p:spPr>
          <a:xfrm>
            <a:off x="3399682" y="4418774"/>
            <a:ext cx="646331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岸桥作业指令</a:t>
            </a:r>
          </a:p>
        </p:txBody>
      </p:sp>
      <p:cxnSp>
        <p:nvCxnSpPr>
          <p:cNvPr id="160" name="直接箭头连接符 159">
            <a:extLst>
              <a:ext uri="{FF2B5EF4-FFF2-40B4-BE49-F238E27FC236}">
                <a16:creationId xmlns:a16="http://schemas.microsoft.com/office/drawing/2014/main" id="{47522D1B-8853-17F9-5FC5-782BCF628D45}"/>
              </a:ext>
            </a:extLst>
          </p:cNvPr>
          <p:cNvCxnSpPr>
            <a:cxnSpLocks/>
            <a:stCxn id="140" idx="2"/>
          </p:cNvCxnSpPr>
          <p:nvPr/>
        </p:nvCxnSpPr>
        <p:spPr>
          <a:xfrm flipH="1">
            <a:off x="4537823" y="4311480"/>
            <a:ext cx="1" cy="4763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文本框 163">
            <a:extLst>
              <a:ext uri="{FF2B5EF4-FFF2-40B4-BE49-F238E27FC236}">
                <a16:creationId xmlns:a16="http://schemas.microsoft.com/office/drawing/2014/main" id="{AE19098C-0768-98BB-3B30-996603BBD57D}"/>
              </a:ext>
            </a:extLst>
          </p:cNvPr>
          <p:cNvSpPr txBox="1"/>
          <p:nvPr/>
        </p:nvSpPr>
        <p:spPr>
          <a:xfrm>
            <a:off x="4489004" y="4418774"/>
            <a:ext cx="800219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水平运输作业指令</a:t>
            </a:r>
          </a:p>
        </p:txBody>
      </p:sp>
      <p:cxnSp>
        <p:nvCxnSpPr>
          <p:cNvPr id="172" name="连接符: 肘形 171">
            <a:extLst>
              <a:ext uri="{FF2B5EF4-FFF2-40B4-BE49-F238E27FC236}">
                <a16:creationId xmlns:a16="http://schemas.microsoft.com/office/drawing/2014/main" id="{E8B9C53B-0735-3447-A0ED-DAF50E48205B}"/>
              </a:ext>
            </a:extLst>
          </p:cNvPr>
          <p:cNvCxnSpPr>
            <a:cxnSpLocks/>
          </p:cNvCxnSpPr>
          <p:nvPr/>
        </p:nvCxnSpPr>
        <p:spPr>
          <a:xfrm rot="10800000" flipV="1">
            <a:off x="6286768" y="3401645"/>
            <a:ext cx="774038" cy="398109"/>
          </a:xfrm>
          <a:prstGeom prst="bentConnector3">
            <a:avLst>
              <a:gd name="adj1" fmla="val 77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连接符: 肘形 175">
            <a:extLst>
              <a:ext uri="{FF2B5EF4-FFF2-40B4-BE49-F238E27FC236}">
                <a16:creationId xmlns:a16="http://schemas.microsoft.com/office/drawing/2014/main" id="{4040B917-8C38-A83F-1A8A-7E8948B9873F}"/>
              </a:ext>
            </a:extLst>
          </p:cNvPr>
          <p:cNvCxnSpPr>
            <a:cxnSpLocks/>
            <a:endCxn id="59" idx="1"/>
          </p:cNvCxnSpPr>
          <p:nvPr/>
        </p:nvCxnSpPr>
        <p:spPr>
          <a:xfrm rot="5400000" flipH="1" flipV="1">
            <a:off x="2187127" y="4131767"/>
            <a:ext cx="819716" cy="492446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直接箭头连接符 194">
            <a:extLst>
              <a:ext uri="{FF2B5EF4-FFF2-40B4-BE49-F238E27FC236}">
                <a16:creationId xmlns:a16="http://schemas.microsoft.com/office/drawing/2014/main" id="{BD387270-5239-F784-C364-AAE6B984CFEC}"/>
              </a:ext>
            </a:extLst>
          </p:cNvPr>
          <p:cNvCxnSpPr>
            <a:cxnSpLocks/>
            <a:stCxn id="139" idx="2"/>
          </p:cNvCxnSpPr>
          <p:nvPr/>
        </p:nvCxnSpPr>
        <p:spPr>
          <a:xfrm>
            <a:off x="3434430" y="4311480"/>
            <a:ext cx="0" cy="47636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直接箭头连接符 197">
            <a:extLst>
              <a:ext uri="{FF2B5EF4-FFF2-40B4-BE49-F238E27FC236}">
                <a16:creationId xmlns:a16="http://schemas.microsoft.com/office/drawing/2014/main" id="{0AFD7010-F8BD-57BD-66FB-71394B634F71}"/>
              </a:ext>
            </a:extLst>
          </p:cNvPr>
          <p:cNvCxnSpPr>
            <a:cxnSpLocks/>
            <a:stCxn id="141" idx="2"/>
          </p:cNvCxnSpPr>
          <p:nvPr/>
        </p:nvCxnSpPr>
        <p:spPr>
          <a:xfrm flipH="1">
            <a:off x="5641217" y="4311480"/>
            <a:ext cx="1" cy="47636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1" name="文本框 200">
            <a:extLst>
              <a:ext uri="{FF2B5EF4-FFF2-40B4-BE49-F238E27FC236}">
                <a16:creationId xmlns:a16="http://schemas.microsoft.com/office/drawing/2014/main" id="{6C1A63FE-EF34-6B8E-C7FB-F7FEB1D6734C}"/>
              </a:ext>
            </a:extLst>
          </p:cNvPr>
          <p:cNvSpPr txBox="1"/>
          <p:nvPr/>
        </p:nvSpPr>
        <p:spPr>
          <a:xfrm>
            <a:off x="5576350" y="4412881"/>
            <a:ext cx="646331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场桥作业指令</a:t>
            </a:r>
          </a:p>
        </p:txBody>
      </p:sp>
      <p:cxnSp>
        <p:nvCxnSpPr>
          <p:cNvPr id="35" name="连接符: 肘形 34">
            <a:extLst>
              <a:ext uri="{FF2B5EF4-FFF2-40B4-BE49-F238E27FC236}">
                <a16:creationId xmlns:a16="http://schemas.microsoft.com/office/drawing/2014/main" id="{13346CF9-0452-7121-A951-11E1B3F7B23A}"/>
              </a:ext>
            </a:extLst>
          </p:cNvPr>
          <p:cNvCxnSpPr>
            <a:cxnSpLocks/>
          </p:cNvCxnSpPr>
          <p:nvPr/>
        </p:nvCxnSpPr>
        <p:spPr>
          <a:xfrm flipV="1">
            <a:off x="6296891" y="3407704"/>
            <a:ext cx="1111481" cy="895075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B487792C-636B-3E91-AA96-371E88605A9F}"/>
              </a:ext>
            </a:extLst>
          </p:cNvPr>
          <p:cNvSpPr txBox="1"/>
          <p:nvPr/>
        </p:nvSpPr>
        <p:spPr>
          <a:xfrm>
            <a:off x="6286768" y="4037766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任务反馈</a:t>
            </a:r>
            <a:endParaRPr lang="en-US" altLang="zh-CN" sz="600" dirty="0"/>
          </a:p>
          <a:p>
            <a:r>
              <a:rPr lang="zh-CN" altLang="en-US" sz="600" dirty="0"/>
              <a:t>设备状态</a:t>
            </a: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7181CD4E-FC0F-5FE2-60C3-EAE44368A3AD}"/>
              </a:ext>
            </a:extLst>
          </p:cNvPr>
          <p:cNvSpPr txBox="1"/>
          <p:nvPr/>
        </p:nvSpPr>
        <p:spPr>
          <a:xfrm>
            <a:off x="2362880" y="3692380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指令反馈</a:t>
            </a:r>
            <a:endParaRPr lang="en-US" altLang="zh-CN" sz="600" dirty="0"/>
          </a:p>
          <a:p>
            <a:r>
              <a:rPr lang="zh-CN" altLang="en-US" sz="600" dirty="0"/>
              <a:t>设备状态</a:t>
            </a:r>
          </a:p>
        </p:txBody>
      </p:sp>
      <p:sp>
        <p:nvSpPr>
          <p:cNvPr id="59" name="圆角矩形 99">
            <a:extLst>
              <a:ext uri="{FF2B5EF4-FFF2-40B4-BE49-F238E27FC236}">
                <a16:creationId xmlns:a16="http://schemas.microsoft.com/office/drawing/2014/main" id="{F8AAF7DF-111B-CE36-A772-634896145F92}"/>
              </a:ext>
            </a:extLst>
          </p:cNvPr>
          <p:cNvSpPr/>
          <p:nvPr/>
        </p:nvSpPr>
        <p:spPr>
          <a:xfrm>
            <a:off x="2843208" y="3547356"/>
            <a:ext cx="3453683" cy="841552"/>
          </a:xfrm>
          <a:prstGeom prst="rect">
            <a:avLst/>
          </a:prstGeom>
          <a:noFill/>
          <a:ln w="3175">
            <a:prstDash val="dash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3" name="圆角矩形 99">
            <a:extLst>
              <a:ext uri="{FF2B5EF4-FFF2-40B4-BE49-F238E27FC236}">
                <a16:creationId xmlns:a16="http://schemas.microsoft.com/office/drawing/2014/main" id="{B2326C58-36A8-68F9-4942-043D117CA223}"/>
              </a:ext>
            </a:extLst>
          </p:cNvPr>
          <p:cNvSpPr/>
          <p:nvPr/>
        </p:nvSpPr>
        <p:spPr>
          <a:xfrm>
            <a:off x="2843208" y="938924"/>
            <a:ext cx="3453683" cy="1797655"/>
          </a:xfrm>
          <a:prstGeom prst="rect">
            <a:avLst/>
          </a:prstGeom>
          <a:noFill/>
          <a:ln w="3175">
            <a:prstDash val="dash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600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63" name="直接箭头连接符 162">
            <a:extLst>
              <a:ext uri="{FF2B5EF4-FFF2-40B4-BE49-F238E27FC236}">
                <a16:creationId xmlns:a16="http://schemas.microsoft.com/office/drawing/2014/main" id="{73EF7F85-46CB-B9A3-5D69-7F9DD404A6B6}"/>
              </a:ext>
            </a:extLst>
          </p:cNvPr>
          <p:cNvCxnSpPr>
            <a:cxnSpLocks/>
            <a:stCxn id="183" idx="3"/>
            <a:endCxn id="185" idx="1"/>
          </p:cNvCxnSpPr>
          <p:nvPr/>
        </p:nvCxnSpPr>
        <p:spPr>
          <a:xfrm>
            <a:off x="4895076" y="1436551"/>
            <a:ext cx="62459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文本框 170">
            <a:extLst>
              <a:ext uri="{FF2B5EF4-FFF2-40B4-BE49-F238E27FC236}">
                <a16:creationId xmlns:a16="http://schemas.microsoft.com/office/drawing/2014/main" id="{7006D01E-8312-4525-3FFC-F274A2EF6BEA}"/>
              </a:ext>
            </a:extLst>
          </p:cNvPr>
          <p:cNvSpPr txBox="1"/>
          <p:nvPr/>
        </p:nvSpPr>
        <p:spPr>
          <a:xfrm>
            <a:off x="6316831" y="1674090"/>
            <a:ext cx="33855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计划</a:t>
            </a:r>
          </a:p>
        </p:txBody>
      </p:sp>
      <p:cxnSp>
        <p:nvCxnSpPr>
          <p:cNvPr id="216" name="直接箭头连接符 215">
            <a:extLst>
              <a:ext uri="{FF2B5EF4-FFF2-40B4-BE49-F238E27FC236}">
                <a16:creationId xmlns:a16="http://schemas.microsoft.com/office/drawing/2014/main" id="{5D34B908-B3F6-119D-EA55-D00AF97B2D45}"/>
              </a:ext>
            </a:extLst>
          </p:cNvPr>
          <p:cNvCxnSpPr>
            <a:cxnSpLocks/>
            <a:stCxn id="139" idx="3"/>
            <a:endCxn id="140" idx="1"/>
          </p:cNvCxnSpPr>
          <p:nvPr/>
        </p:nvCxnSpPr>
        <p:spPr>
          <a:xfrm>
            <a:off x="3695525" y="3977071"/>
            <a:ext cx="58120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直接箭头连接符 218">
            <a:extLst>
              <a:ext uri="{FF2B5EF4-FFF2-40B4-BE49-F238E27FC236}">
                <a16:creationId xmlns:a16="http://schemas.microsoft.com/office/drawing/2014/main" id="{D9F11FEF-B76F-07F8-4B90-EFD11804F3B1}"/>
              </a:ext>
            </a:extLst>
          </p:cNvPr>
          <p:cNvCxnSpPr>
            <a:cxnSpLocks/>
            <a:stCxn id="141" idx="1"/>
            <a:endCxn id="140" idx="3"/>
          </p:cNvCxnSpPr>
          <p:nvPr/>
        </p:nvCxnSpPr>
        <p:spPr>
          <a:xfrm flipH="1">
            <a:off x="4798919" y="3977071"/>
            <a:ext cx="58120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4" name="文本框 223">
            <a:extLst>
              <a:ext uri="{FF2B5EF4-FFF2-40B4-BE49-F238E27FC236}">
                <a16:creationId xmlns:a16="http://schemas.microsoft.com/office/drawing/2014/main" id="{C4ECDCF1-DE8C-2D9A-A4B3-69E803FBAA52}"/>
              </a:ext>
            </a:extLst>
          </p:cNvPr>
          <p:cNvSpPr txBox="1"/>
          <p:nvPr/>
        </p:nvSpPr>
        <p:spPr>
          <a:xfrm>
            <a:off x="3782277" y="3762909"/>
            <a:ext cx="41549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子任务</a:t>
            </a:r>
          </a:p>
        </p:txBody>
      </p:sp>
      <p:sp>
        <p:nvSpPr>
          <p:cNvPr id="225" name="文本框 224">
            <a:extLst>
              <a:ext uri="{FF2B5EF4-FFF2-40B4-BE49-F238E27FC236}">
                <a16:creationId xmlns:a16="http://schemas.microsoft.com/office/drawing/2014/main" id="{00A0D843-9AF4-B0D9-83A7-81B989CA159F}"/>
              </a:ext>
            </a:extLst>
          </p:cNvPr>
          <p:cNvSpPr txBox="1"/>
          <p:nvPr/>
        </p:nvSpPr>
        <p:spPr>
          <a:xfrm>
            <a:off x="4924658" y="3777472"/>
            <a:ext cx="41549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子任务</a:t>
            </a:r>
          </a:p>
        </p:txBody>
      </p:sp>
      <p:cxnSp>
        <p:nvCxnSpPr>
          <p:cNvPr id="238" name="连接符: 肘形 237">
            <a:extLst>
              <a:ext uri="{FF2B5EF4-FFF2-40B4-BE49-F238E27FC236}">
                <a16:creationId xmlns:a16="http://schemas.microsoft.com/office/drawing/2014/main" id="{2BACB0F4-9013-BBF9-C805-D9A9751B1740}"/>
              </a:ext>
            </a:extLst>
          </p:cNvPr>
          <p:cNvCxnSpPr>
            <a:cxnSpLocks/>
            <a:stCxn id="177" idx="1"/>
            <a:endCxn id="153" idx="2"/>
          </p:cNvCxnSpPr>
          <p:nvPr/>
        </p:nvCxnSpPr>
        <p:spPr>
          <a:xfrm rot="10800000">
            <a:off x="4570050" y="2736580"/>
            <a:ext cx="2254612" cy="33024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5" name="文本框 294">
            <a:extLst>
              <a:ext uri="{FF2B5EF4-FFF2-40B4-BE49-F238E27FC236}">
                <a16:creationId xmlns:a16="http://schemas.microsoft.com/office/drawing/2014/main" id="{030B203C-1BA8-136C-78D8-F4AE73C9163A}"/>
              </a:ext>
            </a:extLst>
          </p:cNvPr>
          <p:cNvSpPr txBox="1"/>
          <p:nvPr/>
        </p:nvSpPr>
        <p:spPr>
          <a:xfrm>
            <a:off x="6360188" y="2882112"/>
            <a:ext cx="492443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计划反馈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66323476-E180-5E77-6D14-47FBE1D47C41}"/>
              </a:ext>
            </a:extLst>
          </p:cNvPr>
          <p:cNvSpPr txBox="1"/>
          <p:nvPr/>
        </p:nvSpPr>
        <p:spPr>
          <a:xfrm>
            <a:off x="2307122" y="77823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出口舱单</a:t>
            </a:r>
            <a:endParaRPr lang="en-US" altLang="zh-CN" sz="600" dirty="0"/>
          </a:p>
          <a:p>
            <a:r>
              <a:rPr lang="zh-CN" altLang="en-US" sz="600" dirty="0"/>
              <a:t>场站收据</a:t>
            </a:r>
            <a:endParaRPr lang="en-US" altLang="zh-CN" sz="600" dirty="0"/>
          </a:p>
          <a:p>
            <a:r>
              <a:rPr lang="zh-CN" altLang="en-US" sz="600" dirty="0"/>
              <a:t>海关放行信息</a:t>
            </a:r>
          </a:p>
        </p:txBody>
      </p: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DEBE2D3A-4A5C-7E08-BA82-6AB7DA3E94F6}"/>
              </a:ext>
            </a:extLst>
          </p:cNvPr>
          <p:cNvCxnSpPr>
            <a:cxnSpLocks/>
            <a:endCxn id="137" idx="0"/>
          </p:cNvCxnSpPr>
          <p:nvPr/>
        </p:nvCxnSpPr>
        <p:spPr>
          <a:xfrm>
            <a:off x="3373222" y="748622"/>
            <a:ext cx="0" cy="3539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B40585DD-E643-0733-790C-55379ADF7A48}"/>
              </a:ext>
            </a:extLst>
          </p:cNvPr>
          <p:cNvSpPr txBox="1"/>
          <p:nvPr/>
        </p:nvSpPr>
        <p:spPr>
          <a:xfrm>
            <a:off x="3322738" y="779511"/>
            <a:ext cx="7232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出口箱进场计划</a:t>
            </a:r>
            <a:endParaRPr lang="en-US" altLang="zh-CN" sz="600" dirty="0"/>
          </a:p>
          <a:p>
            <a:r>
              <a:rPr lang="zh-CN" altLang="en-US" sz="600" dirty="0"/>
              <a:t>船舶计划</a:t>
            </a:r>
            <a:endParaRPr lang="en-US" altLang="zh-CN" sz="600" dirty="0"/>
          </a:p>
        </p:txBody>
      </p: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28B28E30-9E0D-671F-71B3-451FC03E768B}"/>
              </a:ext>
            </a:extLst>
          </p:cNvPr>
          <p:cNvCxnSpPr>
            <a:cxnSpLocks/>
            <a:stCxn id="137" idx="2"/>
            <a:endCxn id="16" idx="0"/>
          </p:cNvCxnSpPr>
          <p:nvPr/>
        </p:nvCxnSpPr>
        <p:spPr>
          <a:xfrm>
            <a:off x="3373222" y="1771375"/>
            <a:ext cx="0" cy="14580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09FE1304-BD97-310C-988B-3054F0D18A67}"/>
              </a:ext>
            </a:extLst>
          </p:cNvPr>
          <p:cNvSpPr txBox="1"/>
          <p:nvPr/>
        </p:nvSpPr>
        <p:spPr>
          <a:xfrm>
            <a:off x="3353678" y="1760596"/>
            <a:ext cx="800219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实收出口箱场箱位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5A4C63AA-BC7F-B050-0F71-5F1D0441C8F7}"/>
              </a:ext>
            </a:extLst>
          </p:cNvPr>
          <p:cNvSpPr txBox="1"/>
          <p:nvPr/>
        </p:nvSpPr>
        <p:spPr>
          <a:xfrm>
            <a:off x="3606550" y="1983664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配载船图</a:t>
            </a:r>
            <a:endParaRPr lang="en-US" altLang="zh-CN" sz="600" dirty="0"/>
          </a:p>
          <a:p>
            <a:r>
              <a:rPr lang="zh-CN" altLang="en-US" sz="600" dirty="0"/>
              <a:t>装船计划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692EC45A-F7D9-15A6-A81A-B620FBE2FB6F}"/>
              </a:ext>
            </a:extLst>
          </p:cNvPr>
          <p:cNvSpPr txBox="1"/>
          <p:nvPr/>
        </p:nvSpPr>
        <p:spPr>
          <a:xfrm>
            <a:off x="3606711" y="1092556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泊位计划</a:t>
            </a:r>
            <a:endParaRPr lang="en-US" altLang="zh-CN" sz="600" dirty="0"/>
          </a:p>
          <a:p>
            <a:r>
              <a:rPr lang="zh-CN" altLang="en-US" sz="600" dirty="0"/>
              <a:t>出口箱堆存计划</a:t>
            </a:r>
            <a:endParaRPr lang="en-US" altLang="zh-CN" sz="600" dirty="0"/>
          </a:p>
          <a:p>
            <a:r>
              <a:rPr lang="zh-CN" altLang="en-US" sz="600" dirty="0"/>
              <a:t>箱区贝位图</a:t>
            </a:r>
          </a:p>
        </p:txBody>
      </p:sp>
      <p:cxnSp>
        <p:nvCxnSpPr>
          <p:cNvPr id="28" name="直接箭头连接符 27">
            <a:extLst>
              <a:ext uri="{FF2B5EF4-FFF2-40B4-BE49-F238E27FC236}">
                <a16:creationId xmlns:a16="http://schemas.microsoft.com/office/drawing/2014/main" id="{772FCBB2-779E-F30C-38F3-13882583E830}"/>
              </a:ext>
            </a:extLst>
          </p:cNvPr>
          <p:cNvCxnSpPr>
            <a:cxnSpLocks/>
            <a:endCxn id="183" idx="0"/>
          </p:cNvCxnSpPr>
          <p:nvPr/>
        </p:nvCxnSpPr>
        <p:spPr>
          <a:xfrm>
            <a:off x="4633981" y="748622"/>
            <a:ext cx="0" cy="3539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2DF0CFDE-2623-9411-F8D0-87D5351EAFF2}"/>
              </a:ext>
            </a:extLst>
          </p:cNvPr>
          <p:cNvSpPr txBox="1"/>
          <p:nvPr/>
        </p:nvSpPr>
        <p:spPr>
          <a:xfrm>
            <a:off x="4575226" y="773073"/>
            <a:ext cx="646331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600" dirty="0"/>
              <a:t>闸口送箱进场</a:t>
            </a:r>
            <a:endParaRPr lang="en-US" altLang="zh-CN" sz="600" dirty="0"/>
          </a:p>
        </p:txBody>
      </p:sp>
    </p:spTree>
    <p:extLst>
      <p:ext uri="{BB962C8B-B14F-4D97-AF65-F5344CB8AC3E}">
        <p14:creationId xmlns:p14="http://schemas.microsoft.com/office/powerpoint/2010/main" val="2056223195"/>
      </p:ext>
    </p:extLst>
  </p:cSld>
  <p:clrMapOvr>
    <a:masterClrMapping/>
  </p:clrMapOvr>
  <p:transition spd="slow">
    <p:split orient="vert"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离子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自定义 1">
      <a:majorFont>
        <a:latin typeface="Broadway"/>
        <a:ea typeface="方正正中黑简体"/>
        <a:cs typeface=""/>
      </a:majorFont>
      <a:minorFont>
        <a:latin typeface="微软雅黑"/>
        <a:ea typeface="微软雅黑"/>
        <a:cs typeface="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>
            <a:fillRect/>
          </a:stretch>
        </a:blipFill>
      </a:bgFillStyleLst>
    </a:fmtScheme>
  </a:themeElements>
  <a:objectDefaults>
    <a:spDef>
      <a:spPr>
        <a:solidFill>
          <a:srgbClr val="C00000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>
          <a:defRPr dirty="0" smtClean="0">
            <a:solidFill>
              <a:schemeClr val="bg1"/>
            </a:solidFill>
            <a:latin typeface="+mn-ea"/>
            <a:ea typeface="+mn-ea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4B7085"/>
        </a:solidFill>
        <a:ln>
          <a:noFill/>
        </a:ln>
      </a:spPr>
      <a:bodyPr rtlCol="0" anchor="ctr"/>
      <a:lstStyle>
        <a:defPPr algn="ctr">
          <a:defRPr sz="600" dirty="0">
            <a:solidFill>
              <a:schemeClr val="bg1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lt1"/>
        </a:fontRef>
      </a:style>
    </a:spDef>
  </a:objectDefaults>
  <a:extraClrSchemeLst/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25681</TotalTime>
  <Words>403</Words>
  <Application>Microsoft Office PowerPoint</Application>
  <PresentationFormat>全屏显示(16:9)</PresentationFormat>
  <Paragraphs>125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3</vt:i4>
      </vt:variant>
    </vt:vector>
  </HeadingPairs>
  <TitlesOfParts>
    <vt:vector size="12" baseType="lpstr">
      <vt:lpstr>★锐线体</vt:lpstr>
      <vt:lpstr>微软雅黑</vt:lpstr>
      <vt:lpstr>Arial</vt:lpstr>
      <vt:lpstr>Book Antiqua</vt:lpstr>
      <vt:lpstr>Broadway</vt:lpstr>
      <vt:lpstr>Calibri</vt:lpstr>
      <vt:lpstr>Wingdings 3</vt:lpstr>
      <vt:lpstr>离子</vt:lpstr>
      <vt:lpstr>Office 主题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wuyongling</dc:creator>
  <cp:lastModifiedBy>w m</cp:lastModifiedBy>
  <cp:revision>4340</cp:revision>
  <dcterms:created xsi:type="dcterms:W3CDTF">2016-09-02T07:23:00Z</dcterms:created>
  <dcterms:modified xsi:type="dcterms:W3CDTF">2025-01-15T02:03:28Z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2052-11.1.0.8808</vt:lpwstr>
  </property>
</Properties>
</file>